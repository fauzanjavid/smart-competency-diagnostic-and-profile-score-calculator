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4"/>
  </p:sldMasterIdLst>
  <p:notesMasterIdLst>
    <p:notesMasterId r:id="rId19"/>
  </p:notesMasterIdLst>
  <p:sldIdLst>
    <p:sldId id="256" r:id="rId5"/>
    <p:sldId id="257" r:id="rId6"/>
    <p:sldId id="258" r:id="rId7"/>
    <p:sldId id="259" r:id="rId8"/>
    <p:sldId id="260" r:id="rId9"/>
    <p:sldId id="261" r:id="rId10"/>
    <p:sldId id="262" r:id="rId11"/>
    <p:sldId id="263" r:id="rId12"/>
    <p:sldId id="264" r:id="rId13"/>
    <p:sldId id="269" r:id="rId14"/>
    <p:sldId id="272" r:id="rId15"/>
    <p:sldId id="278" r:id="rId16"/>
    <p:sldId id="267" r:id="rId17"/>
    <p:sldId id="268" r:id="rId1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878E7EC-5E27-4368-B67F-C9CC18CC6459}">
  <a:tblStyle styleId="{E878E7EC-5E27-4368-B67F-C9CC18CC645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80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5" name="Google Shape;9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1" name="Google Shape;101;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7" name="Google Shape;10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5" name="Google Shape;11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1" name="Google Shape;121;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7" name="Google Shape;127;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4" name="Google Shape;134;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1" name="Google Shape;141;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6" name="Google Shape;166;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2" name="Google Shape;172;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17365D"/>
              </a:buClr>
              <a:buSzPts val="2800"/>
              <a:buFont typeface="Verdana"/>
              <a:buNone/>
              <a:defRPr>
                <a:solidFill>
                  <a:srgbClr val="17365D"/>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400"/>
              </a:spcBef>
              <a:spcAft>
                <a:spcPts val="0"/>
              </a:spcAft>
              <a:buClr>
                <a:srgbClr val="17365D"/>
              </a:buClr>
              <a:buSzPts val="2000"/>
              <a:buNone/>
              <a:defRPr sz="2000" b="1">
                <a:solidFill>
                  <a:srgbClr val="17365D"/>
                </a:solidFill>
              </a:defRPr>
            </a:lvl1pPr>
            <a:lvl2pPr lvl="1" algn="ctr">
              <a:lnSpc>
                <a:spcPct val="100000"/>
              </a:lnSpc>
              <a:spcBef>
                <a:spcPts val="400"/>
              </a:spcBef>
              <a:spcAft>
                <a:spcPts val="0"/>
              </a:spcAft>
              <a:buClr>
                <a:srgbClr val="888888"/>
              </a:buClr>
              <a:buSzPts val="2000"/>
              <a:buNone/>
              <a:defRPr>
                <a:solidFill>
                  <a:srgbClr val="888888"/>
                </a:solidFill>
              </a:defRPr>
            </a:lvl2pPr>
            <a:lvl3pPr lvl="2" algn="ctr">
              <a:lnSpc>
                <a:spcPct val="100000"/>
              </a:lnSpc>
              <a:spcBef>
                <a:spcPts val="360"/>
              </a:spcBef>
              <a:spcAft>
                <a:spcPts val="0"/>
              </a:spcAft>
              <a:buClr>
                <a:srgbClr val="888888"/>
              </a:buClr>
              <a:buSzPts val="1800"/>
              <a:buNone/>
              <a:defRPr>
                <a:solidFill>
                  <a:srgbClr val="888888"/>
                </a:solidFill>
              </a:defRPr>
            </a:lvl3pPr>
            <a:lvl4pPr lvl="3" algn="ctr">
              <a:lnSpc>
                <a:spcPct val="100000"/>
              </a:lnSpc>
              <a:spcBef>
                <a:spcPts val="320"/>
              </a:spcBef>
              <a:spcAft>
                <a:spcPts val="0"/>
              </a:spcAft>
              <a:buClr>
                <a:srgbClr val="888888"/>
              </a:buClr>
              <a:buSzPts val="1600"/>
              <a:buNone/>
              <a:defRPr>
                <a:solidFill>
                  <a:srgbClr val="888888"/>
                </a:solidFill>
              </a:defRPr>
            </a:lvl4pPr>
            <a:lvl5pPr lvl="4" algn="ctr">
              <a:lnSpc>
                <a:spcPct val="100000"/>
              </a:lnSpc>
              <a:spcBef>
                <a:spcPts val="320"/>
              </a:spcBef>
              <a:spcAft>
                <a:spcPts val="0"/>
              </a:spcAft>
              <a:buClr>
                <a:srgbClr val="888888"/>
              </a:buClr>
              <a:buSzPts val="16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17365D"/>
              </a:buClr>
              <a:buSzPts val="2800"/>
              <a:buFont typeface="Verdana"/>
              <a:buNone/>
              <a:defRPr>
                <a:solidFill>
                  <a:srgbClr val="17365D"/>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a:solidFill>
                  <a:schemeClr val="dk1"/>
                </a:solidFill>
              </a:defRPr>
            </a:lvl1pPr>
            <a:lvl2pPr marL="914400" lvl="1" indent="-355600" algn="l">
              <a:lnSpc>
                <a:spcPct val="100000"/>
              </a:lnSpc>
              <a:spcBef>
                <a:spcPts val="400"/>
              </a:spcBef>
              <a:spcAft>
                <a:spcPts val="0"/>
              </a:spcAft>
              <a:buClr>
                <a:schemeClr val="dk1"/>
              </a:buClr>
              <a:buSzPts val="2000"/>
              <a:buChar char="–"/>
              <a:defRPr>
                <a:solidFill>
                  <a:schemeClr val="dk1"/>
                </a:solidFill>
              </a:defRPr>
            </a:lvl2pPr>
            <a:lvl3pPr marL="1371600" lvl="2" indent="-342900" algn="l">
              <a:lnSpc>
                <a:spcPct val="100000"/>
              </a:lnSpc>
              <a:spcBef>
                <a:spcPts val="360"/>
              </a:spcBef>
              <a:spcAft>
                <a:spcPts val="0"/>
              </a:spcAft>
              <a:buClr>
                <a:schemeClr val="dk1"/>
              </a:buClr>
              <a:buSzPts val="1800"/>
              <a:buChar char="•"/>
              <a:defRPr>
                <a:solidFill>
                  <a:schemeClr val="dk1"/>
                </a:solidFill>
              </a:defRPr>
            </a:lvl3pPr>
            <a:lvl4pPr marL="1828800" lvl="3" indent="-330200" algn="l">
              <a:lnSpc>
                <a:spcPct val="100000"/>
              </a:lnSpc>
              <a:spcBef>
                <a:spcPts val="320"/>
              </a:spcBef>
              <a:spcAft>
                <a:spcPts val="0"/>
              </a:spcAft>
              <a:buClr>
                <a:schemeClr val="dk1"/>
              </a:buClr>
              <a:buSzPts val="1600"/>
              <a:buChar char="–"/>
              <a:defRPr>
                <a:solidFill>
                  <a:schemeClr val="dk1"/>
                </a:solidFill>
              </a:defRPr>
            </a:lvl4pPr>
            <a:lvl5pPr marL="2286000" lvl="4" indent="-330200" algn="l">
              <a:lnSpc>
                <a:spcPct val="100000"/>
              </a:lnSpc>
              <a:spcBef>
                <a:spcPts val="320"/>
              </a:spcBef>
              <a:spcAft>
                <a:spcPts val="0"/>
              </a:spcAft>
              <a:buClr>
                <a:schemeClr val="dk1"/>
              </a:buClr>
              <a:buSzPts val="1600"/>
              <a:buChar char="»"/>
              <a:defRPr>
                <a:solidFill>
                  <a:schemeClr val="dk1"/>
                </a:solidFil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Clr>
                <a:srgbClr val="FF0000"/>
              </a:buClr>
              <a:buSzPts val="4000"/>
              <a:buFont typeface="Verdana"/>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FF0000"/>
              </a:buClr>
              <a:buSzPts val="2800"/>
              <a:buFont typeface="Verdana"/>
              <a:buNone/>
              <a:defRPr>
                <a:solidFill>
                  <a:srgbClr val="FF00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FF0000"/>
              </a:buClr>
              <a:buSzPts val="2800"/>
              <a:buFont typeface="Verdana"/>
              <a:buNone/>
              <a:defRPr>
                <a:solidFill>
                  <a:srgbClr val="FF00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FF000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rgbClr val="FF0000"/>
              </a:buClr>
              <a:buSzPts val="2000"/>
              <a:buFont typeface="Verdana"/>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rgbClr val="FF0000"/>
              </a:buClr>
              <a:buSzPts val="2000"/>
              <a:buFont typeface="Verdana"/>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FF000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FF000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Bookman Old Style"/>
                <a:ea typeface="Bookman Old Style"/>
                <a:cs typeface="Bookman Old Style"/>
                <a:sym typeface="Bookman Old Style"/>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Bookman Old Style"/>
                <a:ea typeface="Bookman Old Style"/>
                <a:cs typeface="Bookman Old Style"/>
                <a:sym typeface="Bookman Old Style"/>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Bookman Old Style"/>
                <a:ea typeface="Bookman Old Style"/>
                <a:cs typeface="Bookman Old Style"/>
                <a:sym typeface="Bookman Old Style"/>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Bookman Old Style"/>
                <a:ea typeface="Bookman Old Style"/>
                <a:cs typeface="Bookman Old Style"/>
                <a:sym typeface="Bookman Old Style"/>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Bookman Old Style"/>
                <a:ea typeface="Bookman Old Style"/>
                <a:cs typeface="Bookman Old Style"/>
                <a:sym typeface="Bookman Old Style"/>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Bookman Old Style"/>
                <a:ea typeface="Bookman Old Style"/>
                <a:cs typeface="Bookman Old Style"/>
                <a:sym typeface="Bookman Old Style"/>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Bookman Old Style"/>
                <a:ea typeface="Bookman Old Style"/>
                <a:cs typeface="Bookman Old Style"/>
                <a:sym typeface="Bookman Old Style"/>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Bookman Old Style"/>
                <a:ea typeface="Bookman Old Style"/>
                <a:cs typeface="Bookman Old Style"/>
                <a:sym typeface="Bookman Old Style"/>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Bookman Old Style"/>
                <a:ea typeface="Bookman Old Style"/>
                <a:cs typeface="Bookman Old Style"/>
                <a:sym typeface="Bookman Old Style"/>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Bookman Old Style"/>
                <a:ea typeface="Bookman Old Style"/>
                <a:cs typeface="Bookman Old Style"/>
                <a:sym typeface="Bookman Old Style"/>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Bookman Old Style"/>
                <a:ea typeface="Bookman Old Style"/>
                <a:cs typeface="Bookman Old Style"/>
                <a:sym typeface="Bookman Old Style"/>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Bookman Old Style"/>
                <a:ea typeface="Bookman Old Style"/>
                <a:cs typeface="Bookman Old Style"/>
                <a:sym typeface="Bookman Old Style"/>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Bookman Old Style"/>
                <a:ea typeface="Bookman Old Style"/>
                <a:cs typeface="Bookman Old Style"/>
                <a:sym typeface="Bookman Old Style"/>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Bookman Old Style"/>
                <a:ea typeface="Bookman Old Style"/>
                <a:cs typeface="Bookman Old Style"/>
                <a:sym typeface="Bookman Old Style"/>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sm" len="sm"/>
            <a:tailEnd type="none" w="sm" len="sm"/>
          </a:ln>
        </p:spPr>
      </p:cxnSp>
      <p:pic>
        <p:nvPicPr>
          <p:cNvPr id="12" name="Google Shape;12;p1"/>
          <p:cNvPicPr preferRelativeResize="0"/>
          <p:nvPr/>
        </p:nvPicPr>
        <p:blipFill rotWithShape="1">
          <a:blip r:embed="rId13">
            <a:alphaModFix/>
          </a:blip>
          <a:srcRect b="18045"/>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github.com/FauzanJavid/Smart-Competency-Diagnostic-and-Profile-Score-Calculator"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66034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17365D"/>
              </a:buClr>
              <a:buSzPts val="2800"/>
              <a:buFont typeface="Verdana"/>
              <a:buNone/>
            </a:pPr>
            <a:r>
              <a:rPr lang="en-US" sz="2000" dirty="0">
                <a:solidFill>
                  <a:schemeClr val="tx1"/>
                </a:solidFill>
                <a:latin typeface="Cambria" panose="02040503050406030204" pitchFamily="18" charset="0"/>
                <a:ea typeface="Cambria" panose="02040503050406030204" pitchFamily="18" charset="0"/>
              </a:rPr>
              <a:t>PSCS_278 – Smart Competency Diagnostic and Profile Score Calculator</a:t>
            </a:r>
            <a:endParaRPr dirty="0">
              <a:latin typeface="Times New Roman"/>
              <a:ea typeface="Times New Roman"/>
              <a:cs typeface="Times New Roman"/>
              <a:sym typeface="Times New Roman"/>
            </a:endParaRPr>
          </a:p>
        </p:txBody>
      </p:sp>
      <p:sp>
        <p:nvSpPr>
          <p:cNvPr id="88" name="Google Shape;88;p13"/>
          <p:cNvSpPr txBox="1">
            <a:spLocks noGrp="1"/>
          </p:cNvSpPr>
          <p:nvPr>
            <p:ph type="subTitle" idx="1"/>
          </p:nvPr>
        </p:nvSpPr>
        <p:spPr>
          <a:xfrm>
            <a:off x="880116" y="1820623"/>
            <a:ext cx="3970500" cy="429000"/>
          </a:xfrm>
          <a:prstGeom prst="rect">
            <a:avLst/>
          </a:prstGeom>
          <a:noFill/>
          <a:ln>
            <a:noFill/>
          </a:ln>
        </p:spPr>
        <p:txBody>
          <a:bodyPr spcFirstLastPara="1" wrap="square" lIns="91425" tIns="45700" rIns="91425" bIns="45700" anchor="t" anchorCtr="0">
            <a:noAutofit/>
          </a:bodyPr>
          <a:lstStyle/>
          <a:p>
            <a:pPr marL="0" lvl="0" indent="0" algn="l" rtl="0">
              <a:lnSpc>
                <a:spcPct val="80000"/>
              </a:lnSpc>
              <a:spcBef>
                <a:spcPts val="0"/>
              </a:spcBef>
              <a:spcAft>
                <a:spcPts val="0"/>
              </a:spcAft>
              <a:buClr>
                <a:srgbClr val="17365D"/>
              </a:buClr>
              <a:buSzPts val="1100"/>
              <a:buNone/>
            </a:pPr>
            <a:r>
              <a:rPr lang="en-US">
                <a:latin typeface="Bookman Old Style"/>
                <a:ea typeface="Bookman Old Style"/>
                <a:cs typeface="Bookman Old Style"/>
                <a:sym typeface="Bookman Old Style"/>
              </a:rPr>
              <a:t>Batch Number: CAI-G19</a:t>
            </a:r>
            <a:endParaRPr>
              <a:latin typeface="Bookman Old Style"/>
              <a:ea typeface="Bookman Old Style"/>
              <a:cs typeface="Bookman Old Style"/>
              <a:sym typeface="Bookman Old Style"/>
            </a:endParaRPr>
          </a:p>
          <a:p>
            <a:pPr marL="0" lvl="0" indent="0" algn="l" rtl="0">
              <a:lnSpc>
                <a:spcPct val="80000"/>
              </a:lnSpc>
              <a:spcBef>
                <a:spcPts val="400"/>
              </a:spcBef>
              <a:spcAft>
                <a:spcPts val="0"/>
              </a:spcAft>
              <a:buClr>
                <a:srgbClr val="17365D"/>
              </a:buClr>
              <a:buSzPts val="1100"/>
              <a:buNone/>
            </a:pPr>
            <a:endParaRPr sz="1100">
              <a:latin typeface="Cambria"/>
              <a:ea typeface="Cambria"/>
              <a:cs typeface="Cambria"/>
              <a:sym typeface="Cambria"/>
            </a:endParaRPr>
          </a:p>
        </p:txBody>
      </p:sp>
      <p:graphicFrame>
        <p:nvGraphicFramePr>
          <p:cNvPr id="89" name="Google Shape;89;p13"/>
          <p:cNvGraphicFramePr/>
          <p:nvPr>
            <p:extLst>
              <p:ext uri="{D42A27DB-BD31-4B8C-83A1-F6EECF244321}">
                <p14:modId xmlns:p14="http://schemas.microsoft.com/office/powerpoint/2010/main" val="2340055338"/>
              </p:ext>
            </p:extLst>
          </p:nvPr>
        </p:nvGraphicFramePr>
        <p:xfrm>
          <a:off x="699024" y="2254892"/>
          <a:ext cx="5418675" cy="1828850"/>
        </p:xfrm>
        <a:graphic>
          <a:graphicData uri="http://schemas.openxmlformats.org/drawingml/2006/table">
            <a:tbl>
              <a:tblPr firstRow="1" bandRow="1">
                <a:noFill/>
                <a:tableStyleId>{E878E7EC-5E27-4368-B67F-C9CC18CC6459}</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25300">
                <a:tc>
                  <a:txBody>
                    <a:bodyPr/>
                    <a:lstStyle/>
                    <a:p>
                      <a:pPr marL="0" marR="0" lvl="1" indent="0" algn="ctr" rtl="0">
                        <a:lnSpc>
                          <a:spcPct val="100000"/>
                        </a:lnSpc>
                        <a:spcBef>
                          <a:spcPts val="0"/>
                        </a:spcBef>
                        <a:spcAft>
                          <a:spcPts val="0"/>
                        </a:spcAft>
                        <a:buClr>
                          <a:srgbClr val="000000"/>
                        </a:buClr>
                        <a:buSzPts val="1800"/>
                        <a:buFont typeface="Arial"/>
                        <a:buNone/>
                      </a:pPr>
                      <a:r>
                        <a:rPr lang="en-US" sz="1800" b="1" u="none" strike="noStrike" cap="none">
                          <a:solidFill>
                            <a:srgbClr val="17365D"/>
                          </a:solidFill>
                        </a:rPr>
                        <a:t>Roll Number</a:t>
                      </a:r>
                      <a:endParaRPr sz="1800" b="1" u="none" strike="noStrike" cap="none">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1" u="none" strike="noStrike" cap="none">
                          <a:solidFill>
                            <a:srgbClr val="17365D"/>
                          </a:solidFill>
                        </a:rPr>
                        <a:t>Student Name</a:t>
                      </a:r>
                      <a:endParaRPr sz="1800" b="1" u="none" strike="noStrike" cap="none">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25300">
                <a:tc>
                  <a:txBody>
                    <a:bodyPr/>
                    <a:lstStyle/>
                    <a:p>
                      <a:pPr marL="0" marR="0" lvl="0" indent="0" algn="ctr" rtl="0">
                        <a:spcBef>
                          <a:spcPts val="0"/>
                        </a:spcBef>
                        <a:spcAft>
                          <a:spcPts val="0"/>
                        </a:spcAft>
                        <a:buFont typeface="+mj-lt"/>
                        <a:buNone/>
                      </a:pPr>
                      <a:r>
                        <a:rPr lang="en-US" sz="1800" u="none" strike="noStrike" cap="none" dirty="0">
                          <a:latin typeface="Calibri" panose="020F0502020204030204" pitchFamily="34" charset="0"/>
                          <a:cs typeface="Calibri" panose="020F0502020204030204" pitchFamily="34" charset="0"/>
                        </a:rPr>
                        <a:t>20221CDV0002</a:t>
                      </a:r>
                      <a:endParaRPr sz="1800" u="none" strike="noStrike" cap="none" dirty="0">
                        <a:latin typeface="Calibri" panose="020F0502020204030204" pitchFamily="34" charset="0"/>
                        <a:cs typeface="Calibri" panose="020F0502020204030204" pitchFamily="34"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u="none" strike="noStrike" cap="none" dirty="0"/>
                        <a:t>FAUZAN BIN JAVID</a:t>
                      </a:r>
                    </a:p>
                  </a:txBody>
                  <a:tcPr marL="91450" marR="91450" marT="45725" marB="45725" anchor="ctr">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25300">
                <a:tc>
                  <a:txBody>
                    <a:bodyPr/>
                    <a:lstStyle/>
                    <a:p>
                      <a:pPr marL="0" marR="0" lvl="0" indent="0" algn="ctr" rtl="0">
                        <a:spcBef>
                          <a:spcPts val="0"/>
                        </a:spcBef>
                        <a:spcAft>
                          <a:spcPts val="0"/>
                        </a:spcAft>
                        <a:buNone/>
                      </a:pPr>
                      <a:r>
                        <a:rPr lang="en-US" sz="1800" u="none" strike="noStrike" cap="none" dirty="0">
                          <a:latin typeface="Calibri" panose="020F0502020204030204" pitchFamily="34" charset="0"/>
                          <a:cs typeface="Calibri" panose="020F0502020204030204" pitchFamily="34" charset="0"/>
                        </a:rPr>
                        <a:t>20221CDV0007</a:t>
                      </a:r>
                      <a:endParaRPr sz="1800" u="none" strike="noStrike" cap="none" dirty="0">
                        <a:latin typeface="Calibri" panose="020F0502020204030204" pitchFamily="34" charset="0"/>
                        <a:cs typeface="Calibri" panose="020F0502020204030204" pitchFamily="34"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u="none" strike="noStrike" cap="none" dirty="0"/>
                        <a:t>TILAK HEJIB</a:t>
                      </a:r>
                      <a:endParaRPr sz="1800" u="none" strike="noStrike" cap="none" dirty="0"/>
                    </a:p>
                  </a:txBody>
                  <a:tcPr marL="91450" marR="91450" marT="45725" marB="45725" anchor="ctr">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25300">
                <a:tc>
                  <a:txBody>
                    <a:bodyPr/>
                    <a:lstStyle/>
                    <a:p>
                      <a:pPr marL="0" marR="0" lvl="0" indent="0" algn="ctr" rtl="0">
                        <a:spcBef>
                          <a:spcPts val="0"/>
                        </a:spcBef>
                        <a:spcAft>
                          <a:spcPts val="0"/>
                        </a:spcAft>
                        <a:buNone/>
                      </a:pPr>
                      <a:r>
                        <a:rPr lang="en-US" sz="1800" u="none" strike="noStrike" cap="none" dirty="0">
                          <a:latin typeface="Calibri" panose="020F0502020204030204" pitchFamily="34" charset="0"/>
                          <a:cs typeface="Calibri" panose="020F0502020204030204" pitchFamily="34" charset="0"/>
                        </a:rPr>
                        <a:t>20221CDV0044</a:t>
                      </a:r>
                      <a:endParaRPr sz="1800" u="none" strike="noStrike" cap="none" dirty="0">
                        <a:latin typeface="Calibri" panose="020F0502020204030204" pitchFamily="34" charset="0"/>
                        <a:cs typeface="Calibri" panose="020F0502020204030204" pitchFamily="34"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u="none" strike="noStrike" cap="none" dirty="0"/>
                        <a:t>BHARAT KAUSHIK</a:t>
                      </a:r>
                      <a:endParaRPr sz="1800" u="none" strike="noStrike" cap="none" dirty="0"/>
                    </a:p>
                  </a:txBody>
                  <a:tcPr marL="91450" marR="91450" marT="45725" marB="45725" anchor="ctr">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25300">
                <a:tc>
                  <a:txBody>
                    <a:bodyPr/>
                    <a:lstStyle/>
                    <a:p>
                      <a:pPr marL="0" marR="0" lvl="0" indent="0" algn="ctr" rtl="0">
                        <a:lnSpc>
                          <a:spcPct val="100000"/>
                        </a:lnSpc>
                        <a:spcBef>
                          <a:spcPts val="0"/>
                        </a:spcBef>
                        <a:spcAft>
                          <a:spcPts val="0"/>
                        </a:spcAft>
                        <a:buClr>
                          <a:srgbClr val="000000"/>
                        </a:buClr>
                        <a:buSzPts val="1600"/>
                        <a:buFont typeface="Arial"/>
                        <a:buNone/>
                      </a:pPr>
                      <a:endParaRPr lang="en-IN" sz="1600" b="1" u="none" strike="noStrike" cap="none" dirty="0">
                        <a:latin typeface="Times New Roman"/>
                        <a:ea typeface="Times New Roman"/>
                        <a:cs typeface="Times New Roman"/>
                        <a:sym typeface="Times New Roman"/>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lang="en-US"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90" name="Google Shape;90;p13"/>
          <p:cNvSpPr txBox="1"/>
          <p:nvPr/>
        </p:nvSpPr>
        <p:spPr>
          <a:xfrm>
            <a:off x="6253771" y="2254904"/>
            <a:ext cx="5514300" cy="2020500"/>
          </a:xfrm>
          <a:prstGeom prst="rect">
            <a:avLst/>
          </a:prstGeom>
          <a:noFill/>
          <a:ln>
            <a:noFill/>
          </a:ln>
        </p:spPr>
        <p:txBody>
          <a:bodyPr spcFirstLastPara="1" wrap="square" lIns="91425" tIns="45700" rIns="91425" bIns="45700" anchor="t" anchorCtr="0">
            <a:normAutofit/>
          </a:bodyPr>
          <a:lstStyle/>
          <a:p>
            <a:pPr marL="0" marR="0" lvl="0" indent="0" algn="ctr" rtl="0">
              <a:lnSpc>
                <a:spcPct val="100000"/>
              </a:lnSpc>
              <a:spcBef>
                <a:spcPts val="0"/>
              </a:spcBef>
              <a:spcAft>
                <a:spcPts val="0"/>
              </a:spcAft>
              <a:buNone/>
            </a:pPr>
            <a:r>
              <a:rPr lang="en-US" sz="2000" b="1" i="0" u="none" strike="noStrike" cap="none" dirty="0">
                <a:solidFill>
                  <a:srgbClr val="17365D"/>
                </a:solidFill>
                <a:latin typeface="Bookman Old Style"/>
                <a:ea typeface="Bookman Old Style"/>
                <a:cs typeface="Bookman Old Style"/>
                <a:sym typeface="Bookman Old Style"/>
              </a:rPr>
              <a:t>Under the Supervision of</a:t>
            </a:r>
            <a:endParaRPr sz="1800" b="1" i="0" u="none" strike="noStrike" cap="none" dirty="0">
              <a:solidFill>
                <a:schemeClr val="dk1"/>
              </a:solidFill>
              <a:latin typeface="Bookman Old Style"/>
              <a:ea typeface="Bookman Old Style"/>
              <a:cs typeface="Bookman Old Style"/>
              <a:sym typeface="Bookman Old Style"/>
            </a:endParaRPr>
          </a:p>
          <a:p>
            <a:pPr marL="0" marR="0" lvl="0" indent="0" algn="ctr" rtl="0">
              <a:lnSpc>
                <a:spcPct val="100000"/>
              </a:lnSpc>
              <a:spcBef>
                <a:spcPts val="0"/>
              </a:spcBef>
              <a:spcAft>
                <a:spcPts val="0"/>
              </a:spcAft>
              <a:buNone/>
            </a:pPr>
            <a:endParaRPr sz="2000" b="1" i="0" u="none" strike="noStrike" cap="none" dirty="0">
              <a:solidFill>
                <a:srgbClr val="17365D"/>
              </a:solidFill>
              <a:latin typeface="Cambria"/>
              <a:ea typeface="Cambria"/>
              <a:cs typeface="Cambria"/>
              <a:sym typeface="Cambria"/>
            </a:endParaRPr>
          </a:p>
          <a:p>
            <a:pPr marL="0" marR="0" lvl="0" indent="0" algn="ctr" rtl="0">
              <a:lnSpc>
                <a:spcPct val="100000"/>
              </a:lnSpc>
              <a:spcBef>
                <a:spcPts val="0"/>
              </a:spcBef>
              <a:spcAft>
                <a:spcPts val="0"/>
              </a:spcAft>
              <a:buClr>
                <a:srgbClr val="000000"/>
              </a:buClr>
              <a:buSzPts val="2000"/>
              <a:buFont typeface="Arial"/>
              <a:buNone/>
            </a:pPr>
            <a:r>
              <a:rPr lang="en-US" sz="1800" b="1" i="0" u="none" strike="noStrike" cap="none" dirty="0">
                <a:solidFill>
                  <a:schemeClr val="dk1"/>
                </a:solidFill>
                <a:latin typeface="Times New Roman"/>
                <a:ea typeface="Times New Roman"/>
                <a:cs typeface="Times New Roman"/>
                <a:sym typeface="Times New Roman"/>
              </a:rPr>
              <a:t>Dr. AKSHATHA Y</a:t>
            </a:r>
            <a:endParaRPr sz="1800" b="1" i="0" u="none" strike="noStrike" cap="none" dirty="0">
              <a:solidFill>
                <a:schemeClr val="dk1"/>
              </a:solidFill>
              <a:latin typeface="Times New Roman"/>
              <a:ea typeface="Times New Roman"/>
              <a:cs typeface="Times New Roman"/>
              <a:sym typeface="Times New Roman"/>
            </a:endParaRPr>
          </a:p>
          <a:p>
            <a:pPr marL="0" marR="0" lvl="0" indent="0" algn="ctr" rtl="0">
              <a:lnSpc>
                <a:spcPct val="100000"/>
              </a:lnSpc>
              <a:spcBef>
                <a:spcPts val="340"/>
              </a:spcBef>
              <a:spcAft>
                <a:spcPts val="0"/>
              </a:spcAft>
              <a:buNone/>
            </a:pPr>
            <a:r>
              <a:rPr lang="en-US" sz="1800" b="1" i="0" u="none" strike="noStrike" cap="none" dirty="0">
                <a:solidFill>
                  <a:schemeClr val="dk1"/>
                </a:solidFill>
                <a:latin typeface="Times New Roman"/>
                <a:ea typeface="Times New Roman"/>
                <a:cs typeface="Times New Roman"/>
                <a:sym typeface="Times New Roman"/>
              </a:rPr>
              <a:t>Assistant Professor </a:t>
            </a:r>
            <a:endParaRPr sz="1800" i="0" u="none" strike="noStrike" cap="none" dirty="0">
              <a:solidFill>
                <a:schemeClr val="dk1"/>
              </a:solidFill>
              <a:latin typeface="Times New Roman"/>
              <a:ea typeface="Times New Roman"/>
              <a:cs typeface="Times New Roman"/>
              <a:sym typeface="Times New Roman"/>
            </a:endParaRPr>
          </a:p>
          <a:p>
            <a:pPr marL="0" marR="0" lvl="0" indent="0" algn="ctr" rtl="0">
              <a:lnSpc>
                <a:spcPct val="100000"/>
              </a:lnSpc>
              <a:spcBef>
                <a:spcPts val="340"/>
              </a:spcBef>
              <a:spcAft>
                <a:spcPts val="0"/>
              </a:spcAft>
              <a:buClr>
                <a:srgbClr val="17365D"/>
              </a:buClr>
              <a:buSzPts val="1700"/>
              <a:buFont typeface="Arial"/>
              <a:buNone/>
            </a:pPr>
            <a:r>
              <a:rPr lang="en-US" sz="1600" b="1" i="0" u="none" strike="noStrike" cap="none" dirty="0">
                <a:solidFill>
                  <a:schemeClr val="dk1"/>
                </a:solidFill>
                <a:latin typeface="Times New Roman"/>
                <a:ea typeface="Times New Roman"/>
                <a:cs typeface="Times New Roman"/>
                <a:sym typeface="Times New Roman"/>
              </a:rPr>
              <a:t>School of Computer Science and Engineering</a:t>
            </a:r>
            <a:endParaRPr sz="1600" i="0" u="none" strike="noStrike" cap="none" dirty="0">
              <a:solidFill>
                <a:schemeClr val="dk1"/>
              </a:solidFill>
              <a:latin typeface="Times New Roman"/>
              <a:ea typeface="Times New Roman"/>
              <a:cs typeface="Times New Roman"/>
              <a:sym typeface="Times New Roman"/>
            </a:endParaRPr>
          </a:p>
          <a:p>
            <a:pPr marL="0" marR="0" lvl="0" indent="0" algn="ctr" rtl="0">
              <a:lnSpc>
                <a:spcPct val="100000"/>
              </a:lnSpc>
              <a:spcBef>
                <a:spcPts val="340"/>
              </a:spcBef>
              <a:spcAft>
                <a:spcPts val="0"/>
              </a:spcAft>
              <a:buClr>
                <a:srgbClr val="17365D"/>
              </a:buClr>
              <a:buSzPts val="1700"/>
              <a:buFont typeface="Arial"/>
              <a:buNone/>
            </a:pPr>
            <a:r>
              <a:rPr lang="en-US" sz="1600" b="1" i="0" u="none" strike="noStrike" cap="none" dirty="0">
                <a:solidFill>
                  <a:schemeClr val="dk1"/>
                </a:solidFill>
                <a:latin typeface="Times New Roman"/>
                <a:ea typeface="Times New Roman"/>
                <a:cs typeface="Times New Roman"/>
                <a:sym typeface="Times New Roman"/>
              </a:rPr>
              <a:t>Presidency University</a:t>
            </a:r>
            <a:endParaRPr sz="1600" i="0" u="none" strike="noStrike" cap="none" dirty="0">
              <a:solidFill>
                <a:schemeClr val="dk1"/>
              </a:solidFill>
              <a:latin typeface="Times New Roman"/>
              <a:ea typeface="Times New Roman"/>
              <a:cs typeface="Times New Roman"/>
              <a:sym typeface="Times New Roman"/>
            </a:endParaRPr>
          </a:p>
          <a:p>
            <a:pPr marL="0" marR="0" lvl="0" indent="0" algn="l" rtl="0">
              <a:lnSpc>
                <a:spcPct val="100000"/>
              </a:lnSpc>
              <a:spcBef>
                <a:spcPts val="400"/>
              </a:spcBef>
              <a:spcAft>
                <a:spcPts val="0"/>
              </a:spcAft>
              <a:buClr>
                <a:srgbClr val="17365D"/>
              </a:buClr>
              <a:buSzPts val="2000"/>
              <a:buFont typeface="Arial"/>
              <a:buNone/>
            </a:pPr>
            <a:endParaRPr sz="2000" b="1" i="0" u="none" strike="noStrike" cap="none" dirty="0">
              <a:solidFill>
                <a:srgbClr val="17365D"/>
              </a:solidFill>
              <a:latin typeface="Cambria"/>
              <a:ea typeface="Cambria"/>
              <a:cs typeface="Cambria"/>
              <a:sym typeface="Cambria"/>
            </a:endParaRPr>
          </a:p>
        </p:txBody>
      </p:sp>
      <p:sp>
        <p:nvSpPr>
          <p:cNvPr id="91" name="Google Shape;91;p13"/>
          <p:cNvSpPr txBox="1"/>
          <p:nvPr/>
        </p:nvSpPr>
        <p:spPr>
          <a:xfrm>
            <a:off x="3986772" y="334089"/>
            <a:ext cx="3970500" cy="552300"/>
          </a:xfrm>
          <a:prstGeom prst="rect">
            <a:avLst/>
          </a:prstGeom>
          <a:noFill/>
          <a:ln>
            <a:noFill/>
          </a:ln>
        </p:spPr>
        <p:txBody>
          <a:bodyPr spcFirstLastPara="1" wrap="square" lIns="91425" tIns="45700" rIns="91425" bIns="45700" anchor="t" anchorCtr="0">
            <a:normAutofit fontScale="85000" lnSpcReduction="20000"/>
          </a:bodyPr>
          <a:lstStyle/>
          <a:p>
            <a:pPr marL="0" marR="0" lvl="0" indent="0" algn="ctr" rtl="0">
              <a:lnSpc>
                <a:spcPct val="100000"/>
              </a:lnSpc>
              <a:spcBef>
                <a:spcPts val="0"/>
              </a:spcBef>
              <a:spcAft>
                <a:spcPts val="0"/>
              </a:spcAft>
              <a:buClr>
                <a:srgbClr val="17365D"/>
              </a:buClr>
              <a:buSzPct val="100000"/>
              <a:buFont typeface="Arial"/>
              <a:buNone/>
            </a:pPr>
            <a:r>
              <a:rPr lang="en-US" sz="2000" b="1" i="0" u="none" strike="noStrike" cap="none" dirty="0">
                <a:solidFill>
                  <a:srgbClr val="17365D"/>
                </a:solidFill>
                <a:latin typeface="Times New Roman"/>
                <a:ea typeface="Times New Roman"/>
                <a:cs typeface="Times New Roman"/>
                <a:sym typeface="Times New Roman"/>
              </a:rPr>
              <a:t>PIP</a:t>
            </a:r>
            <a:r>
              <a:rPr lang="en-US" sz="2000" b="1" dirty="0">
                <a:solidFill>
                  <a:srgbClr val="17365D"/>
                </a:solidFill>
                <a:latin typeface="Times New Roman"/>
                <a:ea typeface="Times New Roman"/>
                <a:cs typeface="Times New Roman"/>
                <a:sym typeface="Times New Roman"/>
              </a:rPr>
              <a:t>4</a:t>
            </a:r>
            <a:r>
              <a:rPr lang="en-US" sz="2000" b="1" i="0" u="none" strike="noStrike" cap="none" dirty="0">
                <a:solidFill>
                  <a:srgbClr val="17365D"/>
                </a:solidFill>
                <a:latin typeface="Times New Roman"/>
                <a:ea typeface="Times New Roman"/>
                <a:cs typeface="Times New Roman"/>
                <a:sym typeface="Times New Roman"/>
              </a:rPr>
              <a:t>00</a:t>
            </a:r>
            <a:r>
              <a:rPr lang="en-US" sz="2000" b="1" dirty="0">
                <a:solidFill>
                  <a:srgbClr val="17365D"/>
                </a:solidFill>
                <a:latin typeface="Times New Roman"/>
                <a:ea typeface="Times New Roman"/>
                <a:cs typeface="Times New Roman"/>
                <a:sym typeface="Times New Roman"/>
              </a:rPr>
              <a:t>4</a:t>
            </a:r>
            <a:r>
              <a:rPr lang="en-US" sz="2000" b="1" i="0" u="none" strike="noStrike" cap="none" dirty="0">
                <a:solidFill>
                  <a:srgbClr val="17365D"/>
                </a:solidFill>
                <a:latin typeface="Times New Roman"/>
                <a:ea typeface="Times New Roman"/>
                <a:cs typeface="Times New Roman"/>
                <a:sym typeface="Times New Roman"/>
              </a:rPr>
              <a:t> Capstone Project</a:t>
            </a:r>
            <a:endParaRPr sz="1400" i="0" u="none" strike="noStrike" cap="none" dirty="0">
              <a:solidFill>
                <a:srgbClr val="000000"/>
              </a:solidFill>
              <a:latin typeface="Times New Roman"/>
              <a:ea typeface="Times New Roman"/>
              <a:cs typeface="Times New Roman"/>
              <a:sym typeface="Times New Roman"/>
            </a:endParaRPr>
          </a:p>
          <a:p>
            <a:pPr marL="0" marR="0" lvl="0" indent="0" algn="ctr" rtl="0">
              <a:lnSpc>
                <a:spcPct val="100000"/>
              </a:lnSpc>
              <a:spcBef>
                <a:spcPts val="310"/>
              </a:spcBef>
              <a:spcAft>
                <a:spcPts val="0"/>
              </a:spcAft>
              <a:buClr>
                <a:srgbClr val="17365D"/>
              </a:buClr>
              <a:buSzPct val="100000"/>
              <a:buFont typeface="Arial"/>
              <a:buNone/>
            </a:pPr>
            <a:r>
              <a:rPr lang="en-US" sz="2000" b="1" i="0" u="none" strike="noStrike" cap="none" dirty="0">
                <a:solidFill>
                  <a:srgbClr val="17365D"/>
                </a:solidFill>
                <a:latin typeface="Times New Roman"/>
                <a:ea typeface="Times New Roman"/>
                <a:cs typeface="Times New Roman"/>
                <a:sym typeface="Times New Roman"/>
              </a:rPr>
              <a:t>Final Review</a:t>
            </a:r>
            <a:endParaRPr sz="2000" b="1" i="0" u="none" strike="noStrike" cap="none" dirty="0">
              <a:solidFill>
                <a:srgbClr val="17365D"/>
              </a:solidFill>
              <a:latin typeface="Times New Roman"/>
              <a:ea typeface="Times New Roman"/>
              <a:cs typeface="Times New Roman"/>
              <a:sym typeface="Times New Roman"/>
            </a:endParaRPr>
          </a:p>
        </p:txBody>
      </p:sp>
      <p:sp>
        <p:nvSpPr>
          <p:cNvPr id="92" name="Google Shape;92;p13"/>
          <p:cNvSpPr txBox="1"/>
          <p:nvPr/>
        </p:nvSpPr>
        <p:spPr>
          <a:xfrm>
            <a:off x="795616" y="4665369"/>
            <a:ext cx="10972447"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1800" b="1" i="0" u="none" strike="noStrike" cap="none" dirty="0" err="1">
                <a:solidFill>
                  <a:schemeClr val="accent1"/>
                </a:solidFill>
                <a:latin typeface="Cambria" panose="02040503050406030204" pitchFamily="18" charset="0"/>
                <a:ea typeface="Cambria" panose="02040503050406030204" pitchFamily="18" charset="0"/>
                <a:cs typeface="Verdana"/>
                <a:sym typeface="Verdana"/>
              </a:rPr>
              <a:t>B.tech</a:t>
            </a: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 Computer Science and Technology (DevOps)</a:t>
            </a:r>
          </a:p>
          <a:p>
            <a:pPr marL="0" marR="0" lvl="0" indent="0" rtl="0">
              <a:spcBef>
                <a:spcPts val="0"/>
              </a:spcBef>
              <a:spcAft>
                <a:spcPts val="0"/>
              </a:spcAft>
              <a:buClr>
                <a:srgbClr val="17365D"/>
              </a:buClr>
              <a:buSzPct val="100000"/>
              <a:buFont typeface="Arial"/>
              <a:buNone/>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a:t>
            </a:r>
            <a:r>
              <a:rPr lang="en-US" sz="1800" b="1" dirty="0" err="1">
                <a:solidFill>
                  <a:schemeClr val="accent1"/>
                </a:solidFill>
                <a:latin typeface="Cambria" panose="02040503050406030204" pitchFamily="18" charset="0"/>
                <a:ea typeface="Cambria" panose="02040503050406030204" pitchFamily="18" charset="0"/>
                <a:cs typeface="Verdana"/>
                <a:sym typeface="Verdana"/>
              </a:rPr>
              <a:t>HoD</a:t>
            </a:r>
            <a:r>
              <a:rPr lang="en-US" sz="1800" b="1" dirty="0">
                <a:solidFill>
                  <a:schemeClr val="accent1"/>
                </a:solidFill>
                <a:latin typeface="Cambria" panose="02040503050406030204" pitchFamily="18" charset="0"/>
                <a:ea typeface="Cambria" panose="02040503050406030204" pitchFamily="18" charset="0"/>
                <a:cs typeface="Verdana"/>
                <a:sym typeface="Verdana"/>
              </a:rPr>
              <a:t>: </a:t>
            </a:r>
            <a:r>
              <a:rPr lang="en-US" sz="1800" b="1" dirty="0">
                <a:solidFill>
                  <a:srgbClr val="FF0000"/>
                </a:solidFill>
                <a:latin typeface="Cambria" panose="02040503050406030204" pitchFamily="18" charset="0"/>
                <a:ea typeface="Cambria" panose="02040503050406030204" pitchFamily="18" charset="0"/>
                <a:cs typeface="Verdana"/>
                <a:sym typeface="Verdana"/>
              </a:rPr>
              <a:t> Dr. Pravinthraja S</a:t>
            </a: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US" sz="1800" b="1" i="0" u="none" strike="noStrike" cap="none" dirty="0">
                <a:solidFill>
                  <a:srgbClr val="FF0000"/>
                </a:solidFill>
                <a:latin typeface="Cambria" panose="02040503050406030204" pitchFamily="18" charset="0"/>
                <a:ea typeface="Cambria" panose="02040503050406030204" pitchFamily="18" charset="0"/>
                <a:cs typeface="Verdana"/>
                <a:sym typeface="Verdana"/>
              </a:rPr>
              <a:t>D</a:t>
            </a:r>
            <a:r>
              <a:rPr lang="en-US" sz="1800" b="1" dirty="0">
                <a:solidFill>
                  <a:srgbClr val="FF0000"/>
                </a:solidFill>
                <a:latin typeface="Cambria" panose="02040503050406030204" pitchFamily="18" charset="0"/>
                <a:ea typeface="Cambria" panose="02040503050406030204" pitchFamily="18" charset="0"/>
                <a:cs typeface="Verdana"/>
                <a:sym typeface="Verdana"/>
              </a:rPr>
              <a:t>. H M Manjula</a:t>
            </a: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Sampath A K , Dr. Geetha A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Content</a:t>
            </a:r>
            <a:endParaRPr>
              <a:latin typeface="Cambria"/>
              <a:ea typeface="Cambria"/>
              <a:cs typeface="Cambria"/>
              <a:sym typeface="Cambria"/>
            </a:endParaRPr>
          </a:p>
        </p:txBody>
      </p:sp>
      <p:sp>
        <p:nvSpPr>
          <p:cNvPr id="98" name="Google Shape;98;p14"/>
          <p:cNvSpPr txBox="1">
            <a:spLocks noGrp="1"/>
          </p:cNvSpPr>
          <p:nvPr>
            <p:ph type="body" idx="1"/>
          </p:nvPr>
        </p:nvSpPr>
        <p:spPr>
          <a:xfrm>
            <a:off x="812800" y="1143001"/>
            <a:ext cx="10668000" cy="3924299"/>
          </a:xfrm>
          <a:prstGeom prst="rect">
            <a:avLst/>
          </a:prstGeom>
          <a:noFill/>
          <a:ln>
            <a:noFill/>
          </a:ln>
        </p:spPr>
        <p:txBody>
          <a:bodyPr spcFirstLastPara="1" wrap="square" lIns="91425" tIns="45700" rIns="91425" bIns="45700" anchor="t" anchorCtr="0">
            <a:normAutofit/>
          </a:bodyPr>
          <a:lstStyle/>
          <a:p>
            <a:pPr marL="495300" lvl="0" indent="-342900" algn="just" rtl="0">
              <a:lnSpc>
                <a:spcPct val="200000"/>
              </a:lnSpc>
              <a:spcBef>
                <a:spcPts val="0"/>
              </a:spcBef>
              <a:spcAft>
                <a:spcPts val="0"/>
              </a:spcAft>
              <a:buSzPts val="2400"/>
              <a:buFont typeface="Noto Sans Symbols"/>
              <a:buChar char="⮚"/>
            </a:pPr>
            <a:r>
              <a:rPr lang="en-US" dirty="0">
                <a:latin typeface="Cambria"/>
                <a:ea typeface="Cambria"/>
                <a:cs typeface="Cambria"/>
                <a:sym typeface="Cambria"/>
              </a:rPr>
              <a:t>Problem Statement</a:t>
            </a:r>
            <a:endParaRPr dirty="0"/>
          </a:p>
          <a:p>
            <a:pPr marL="495300" lvl="0" indent="-342900" algn="just" rtl="0">
              <a:lnSpc>
                <a:spcPct val="200000"/>
              </a:lnSpc>
              <a:spcBef>
                <a:spcPts val="0"/>
              </a:spcBef>
              <a:spcAft>
                <a:spcPts val="0"/>
              </a:spcAft>
              <a:buSzPts val="2400"/>
              <a:buFont typeface="Noto Sans Symbols"/>
              <a:buChar char="⮚"/>
            </a:pPr>
            <a:r>
              <a:rPr lang="en-US" dirty="0">
                <a:latin typeface="Cambria"/>
                <a:ea typeface="Cambria"/>
                <a:cs typeface="Cambria"/>
                <a:sym typeface="Cambria"/>
              </a:rPr>
              <a:t>Github Link</a:t>
            </a:r>
            <a:endParaRPr dirty="0"/>
          </a:p>
          <a:p>
            <a:pPr marL="495300" lvl="0" indent="-342900" algn="just" rtl="0">
              <a:lnSpc>
                <a:spcPct val="200000"/>
              </a:lnSpc>
              <a:spcBef>
                <a:spcPts val="0"/>
              </a:spcBef>
              <a:spcAft>
                <a:spcPts val="0"/>
              </a:spcAft>
              <a:buSzPts val="2400"/>
              <a:buFont typeface="Noto Sans Symbols"/>
              <a:buChar char="⮚"/>
            </a:pPr>
            <a:r>
              <a:rPr lang="en-US" dirty="0">
                <a:latin typeface="Cambria"/>
                <a:ea typeface="Cambria"/>
                <a:cs typeface="Cambria"/>
                <a:sym typeface="Cambria"/>
              </a:rPr>
              <a:t>Analysis of Problem Statement</a:t>
            </a:r>
            <a:endParaRPr dirty="0"/>
          </a:p>
          <a:p>
            <a:pPr marL="495300" lvl="0" indent="-342900" algn="just" rtl="0">
              <a:lnSpc>
                <a:spcPct val="200000"/>
              </a:lnSpc>
              <a:spcBef>
                <a:spcPts val="0"/>
              </a:spcBef>
              <a:spcAft>
                <a:spcPts val="0"/>
              </a:spcAft>
              <a:buClr>
                <a:schemeClr val="dk1"/>
              </a:buClr>
              <a:buSzPts val="2400"/>
              <a:buFont typeface="Noto Sans Symbols"/>
              <a:buChar char="⮚"/>
            </a:pPr>
            <a:r>
              <a:rPr lang="en-US" dirty="0">
                <a:latin typeface="Cambria"/>
                <a:ea typeface="Cambria"/>
                <a:cs typeface="Cambria"/>
                <a:sym typeface="Cambria"/>
              </a:rPr>
              <a:t>Timeline of the Project</a:t>
            </a:r>
            <a:endParaRPr dirty="0"/>
          </a:p>
          <a:p>
            <a:pPr marL="495300" lvl="0" indent="-342900" algn="just" rtl="0">
              <a:lnSpc>
                <a:spcPct val="200000"/>
              </a:lnSpc>
              <a:spcBef>
                <a:spcPts val="0"/>
              </a:spcBef>
              <a:spcAft>
                <a:spcPts val="0"/>
              </a:spcAft>
              <a:buClr>
                <a:schemeClr val="dk1"/>
              </a:buClr>
              <a:buSzPts val="2400"/>
              <a:buFont typeface="Noto Sans Symbols"/>
              <a:buChar char="⮚"/>
            </a:pPr>
            <a:r>
              <a:rPr lang="en-US" dirty="0">
                <a:latin typeface="Cambria"/>
                <a:ea typeface="Cambria"/>
                <a:cs typeface="Cambria"/>
                <a:sym typeface="Cambria"/>
              </a:rPr>
              <a:t>References</a:t>
            </a:r>
            <a:endParaRPr dirty="0"/>
          </a:p>
          <a:p>
            <a:pPr marL="495300" lvl="0" indent="-190500" algn="just" rtl="0">
              <a:lnSpc>
                <a:spcPct val="200000"/>
              </a:lnSpc>
              <a:spcBef>
                <a:spcPts val="0"/>
              </a:spcBef>
              <a:spcAft>
                <a:spcPts val="0"/>
              </a:spcAft>
              <a:buClr>
                <a:schemeClr val="dk1"/>
              </a:buClr>
              <a:buSzPts val="2400"/>
              <a:buFont typeface="Noto Sans Symbols"/>
              <a:buNone/>
            </a:pPr>
            <a:endParaRPr dirty="0">
              <a:latin typeface="Cambria"/>
              <a:ea typeface="Cambria"/>
              <a:cs typeface="Cambria"/>
              <a:sym typeface="Cambria"/>
            </a:endParaRPr>
          </a:p>
          <a:p>
            <a:pPr marL="495300" lvl="0" indent="-190500" algn="just" rtl="0">
              <a:lnSpc>
                <a:spcPct val="200000"/>
              </a:lnSpc>
              <a:spcBef>
                <a:spcPts val="0"/>
              </a:spcBef>
              <a:spcAft>
                <a:spcPts val="0"/>
              </a:spcAft>
              <a:buClr>
                <a:schemeClr val="dk1"/>
              </a:buClr>
              <a:buSzPts val="2400"/>
              <a:buFont typeface="Noto Sans Symbols"/>
              <a:buNone/>
            </a:pPr>
            <a:endParaRPr dirty="0">
              <a:latin typeface="Cambria"/>
              <a:ea typeface="Cambria"/>
              <a:cs typeface="Cambria"/>
              <a:sym typeface="Cambri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17365D"/>
              </a:buClr>
              <a:buSzPts val="2800"/>
              <a:buFont typeface="Verdana"/>
              <a:buNone/>
            </a:pPr>
            <a:r>
              <a:rPr lang="en-US">
                <a:latin typeface="Times New Roman"/>
                <a:ea typeface="Times New Roman"/>
                <a:cs typeface="Times New Roman"/>
                <a:sym typeface="Times New Roman"/>
              </a:rPr>
              <a:t>Problem Statement Number: PSCS48 </a:t>
            </a:r>
            <a:endParaRPr>
              <a:latin typeface="Times New Roman"/>
              <a:ea typeface="Times New Roman"/>
              <a:cs typeface="Times New Roman"/>
              <a:sym typeface="Times New Roman"/>
            </a:endParaRPr>
          </a:p>
        </p:txBody>
      </p:sp>
      <p:sp>
        <p:nvSpPr>
          <p:cNvPr id="104" name="Google Shape;104;p15"/>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fontScale="77500" lnSpcReduction="20000"/>
          </a:bodyPr>
          <a:lstStyle/>
          <a:p>
            <a:pPr marL="342900" lvl="0" indent="-190500" algn="just">
              <a:lnSpc>
                <a:spcPct val="150000"/>
              </a:lnSpc>
              <a:spcBef>
                <a:spcPts val="0"/>
              </a:spcBef>
              <a:buNone/>
            </a:pPr>
            <a:r>
              <a:rPr lang="en-US" b="1" dirty="0">
                <a:latin typeface="Times New Roman"/>
                <a:ea typeface="Times New Roman"/>
                <a:cs typeface="Times New Roman"/>
                <a:sym typeface="Times New Roman"/>
              </a:rPr>
              <a:t>Organization: </a:t>
            </a:r>
            <a:r>
              <a:rPr lang="en-US" dirty="0">
                <a:latin typeface="Cambria" panose="02040503050406030204" pitchFamily="18" charset="0"/>
                <a:ea typeface="Cambria" panose="02040503050406030204" pitchFamily="18" charset="0"/>
              </a:rPr>
              <a:t>Government of Punjab</a:t>
            </a:r>
          </a:p>
          <a:p>
            <a:pPr marL="342900" lvl="0" indent="-190500" algn="just" rtl="0">
              <a:lnSpc>
                <a:spcPct val="200000"/>
              </a:lnSpc>
              <a:spcBef>
                <a:spcPts val="0"/>
              </a:spcBef>
              <a:spcAft>
                <a:spcPts val="0"/>
              </a:spcAft>
              <a:buSzPct val="100000"/>
              <a:buNone/>
            </a:pPr>
            <a:r>
              <a:rPr lang="en-US" b="1" dirty="0">
                <a:latin typeface="Times New Roman"/>
                <a:ea typeface="Times New Roman"/>
                <a:cs typeface="Times New Roman"/>
                <a:sym typeface="Times New Roman"/>
              </a:rPr>
              <a:t>Category (Hardware / Software / Both) : </a:t>
            </a:r>
            <a:r>
              <a:rPr lang="en-US" dirty="0">
                <a:latin typeface="Times New Roman"/>
                <a:ea typeface="Times New Roman"/>
                <a:cs typeface="Times New Roman"/>
                <a:sym typeface="Times New Roman"/>
              </a:rPr>
              <a:t>Software</a:t>
            </a:r>
            <a:endParaRPr dirty="0">
              <a:latin typeface="Times New Roman"/>
              <a:ea typeface="Times New Roman"/>
              <a:cs typeface="Times New Roman"/>
              <a:sym typeface="Times New Roman"/>
            </a:endParaRPr>
          </a:p>
          <a:p>
            <a:pPr marL="342900" lvl="0" indent="-190500" rtl="0">
              <a:lnSpc>
                <a:spcPct val="150000"/>
              </a:lnSpc>
              <a:spcBef>
                <a:spcPts val="0"/>
              </a:spcBef>
              <a:spcAft>
                <a:spcPts val="0"/>
              </a:spcAft>
              <a:buSzPct val="100000"/>
              <a:buNone/>
            </a:pPr>
            <a:r>
              <a:rPr lang="en-US" b="1" dirty="0">
                <a:latin typeface="Times New Roman"/>
                <a:ea typeface="Times New Roman"/>
                <a:cs typeface="Times New Roman"/>
                <a:sym typeface="Times New Roman"/>
              </a:rPr>
              <a:t>Problem Description: </a:t>
            </a:r>
            <a:r>
              <a:rPr lang="en-US" dirty="0">
                <a:latin typeface="Times New Roman"/>
                <a:ea typeface="Times New Roman"/>
                <a:cs typeface="Times New Roman"/>
                <a:sym typeface="Times New Roman"/>
              </a:rPr>
              <a:t>Traditional employment platforms rely on manual or keyword-based matching, often failing to align candidate skills with job requirements accurately. </a:t>
            </a:r>
          </a:p>
          <a:p>
            <a:pPr marL="609600" lvl="0" indent="-457200" rtl="0">
              <a:lnSpc>
                <a:spcPct val="150000"/>
              </a:lnSpc>
              <a:spcBef>
                <a:spcPts val="0"/>
              </a:spcBef>
              <a:spcAft>
                <a:spcPts val="0"/>
              </a:spcAft>
              <a:buSzPct val="100000"/>
              <a:buFont typeface="+mj-lt"/>
              <a:buAutoNum type="arabicPeriod"/>
            </a:pPr>
            <a:r>
              <a:rPr lang="en-US" dirty="0">
                <a:latin typeface="Times New Roman"/>
                <a:ea typeface="Times New Roman"/>
                <a:cs typeface="Times New Roman"/>
                <a:sym typeface="Times New Roman"/>
              </a:rPr>
              <a:t>Lack of real-time skill assessment: Current systems rarely offer dynamic, real-time diagnostics to evaluate candidate competencies, leading to outdated or incomplete skill profiles. </a:t>
            </a:r>
          </a:p>
          <a:p>
            <a:pPr marL="609600" lvl="0" indent="-457200" rtl="0">
              <a:lnSpc>
                <a:spcPct val="150000"/>
              </a:lnSpc>
              <a:spcBef>
                <a:spcPts val="0"/>
              </a:spcBef>
              <a:spcAft>
                <a:spcPts val="0"/>
              </a:spcAft>
              <a:buSzPct val="100000"/>
              <a:buFont typeface="+mj-lt"/>
              <a:buAutoNum type="arabicPeriod"/>
            </a:pPr>
            <a:r>
              <a:rPr lang="en-US" dirty="0">
                <a:latin typeface="Times New Roman"/>
                <a:ea typeface="Times New Roman"/>
                <a:cs typeface="Times New Roman"/>
                <a:sym typeface="Times New Roman"/>
              </a:rPr>
              <a:t>Limited personalization in recommendations: Many platforms provide generic job or training suggestions, neglecting individual candidate profiles, career goals, or skill gaps. </a:t>
            </a:r>
          </a:p>
          <a:p>
            <a:pPr marL="609600" lvl="0" indent="-457200" rtl="0">
              <a:lnSpc>
                <a:spcPct val="150000"/>
              </a:lnSpc>
              <a:spcBef>
                <a:spcPts val="0"/>
              </a:spcBef>
              <a:spcAft>
                <a:spcPts val="0"/>
              </a:spcAft>
              <a:buSzPct val="100000"/>
              <a:buFont typeface="+mj-lt"/>
              <a:buAutoNum type="arabicPeriod"/>
            </a:pPr>
            <a:r>
              <a:rPr lang="en-US" dirty="0">
                <a:latin typeface="Times New Roman"/>
                <a:ea typeface="Times New Roman"/>
                <a:cs typeface="Times New Roman"/>
                <a:sym typeface="Times New Roman"/>
              </a:rPr>
              <a:t>Absence of continuous upskilling support: There is a gap in tools that periodically assess skills and recommend targeted upskilling to keep candidates competitive in evolving job markets. </a:t>
            </a:r>
          </a:p>
          <a:p>
            <a:pPr marL="609600" lvl="0" indent="-457200" rtl="0">
              <a:lnSpc>
                <a:spcPct val="150000"/>
              </a:lnSpc>
              <a:spcBef>
                <a:spcPts val="0"/>
              </a:spcBef>
              <a:spcAft>
                <a:spcPts val="0"/>
              </a:spcAft>
              <a:buSzPct val="100000"/>
              <a:buFont typeface="+mj-lt"/>
              <a:buAutoNum type="arabicPeriod"/>
            </a:pPr>
            <a:r>
              <a:rPr lang="en-US" dirty="0">
                <a:latin typeface="Times New Roman"/>
                <a:ea typeface="Times New Roman"/>
                <a:cs typeface="Times New Roman"/>
                <a:sym typeface="Times New Roman"/>
              </a:rPr>
              <a:t>Inadequate career path planning: Candidates often lack clear, visualized guidance on career trajectories, making long-term planning challenging. </a:t>
            </a:r>
          </a:p>
          <a:p>
            <a:pPr marL="342900" lvl="0" indent="-190500" algn="just" rtl="0">
              <a:lnSpc>
                <a:spcPct val="200000"/>
              </a:lnSpc>
              <a:spcBef>
                <a:spcPts val="0"/>
              </a:spcBef>
              <a:spcAft>
                <a:spcPts val="0"/>
              </a:spcAft>
              <a:buSzPct val="100000"/>
              <a:buNone/>
            </a:pPr>
            <a:endParaRPr dirty="0">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6"/>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indent="0" algn="l" rtl="0">
              <a:lnSpc>
                <a:spcPct val="200000"/>
              </a:lnSpc>
              <a:spcBef>
                <a:spcPts val="0"/>
              </a:spcBef>
              <a:spcAft>
                <a:spcPts val="0"/>
              </a:spcAft>
              <a:buSzPts val="2800"/>
              <a:buNone/>
            </a:pPr>
            <a:r>
              <a:rPr lang="en-US" dirty="0">
                <a:latin typeface="Times New Roman"/>
                <a:ea typeface="Times New Roman"/>
                <a:cs typeface="Times New Roman"/>
                <a:sym typeface="Times New Roman"/>
              </a:rPr>
              <a:t>Github Link</a:t>
            </a:r>
            <a:endParaRPr dirty="0">
              <a:latin typeface="Times New Roman"/>
              <a:ea typeface="Times New Roman"/>
              <a:cs typeface="Times New Roman"/>
              <a:sym typeface="Times New Roman"/>
            </a:endParaRPr>
          </a:p>
        </p:txBody>
      </p:sp>
      <p:sp>
        <p:nvSpPr>
          <p:cNvPr id="110" name="Google Shape;110;p16"/>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lnSpc>
                <a:spcPct val="100000"/>
              </a:lnSpc>
              <a:spcBef>
                <a:spcPts val="0"/>
              </a:spcBef>
              <a:spcAft>
                <a:spcPts val="0"/>
              </a:spcAft>
              <a:buClr>
                <a:schemeClr val="dk1"/>
              </a:buClr>
              <a:buSzPts val="2400"/>
              <a:buNone/>
            </a:pPr>
            <a:endParaRPr>
              <a:latin typeface="Cambria"/>
              <a:ea typeface="Cambria"/>
              <a:cs typeface="Cambria"/>
              <a:sym typeface="Cambria"/>
            </a:endParaRPr>
          </a:p>
          <a:p>
            <a:pPr marL="342900" lvl="0" indent="-190500" algn="just" rtl="0">
              <a:lnSpc>
                <a:spcPct val="100000"/>
              </a:lnSpc>
              <a:spcBef>
                <a:spcPts val="0"/>
              </a:spcBef>
              <a:spcAft>
                <a:spcPts val="0"/>
              </a:spcAft>
              <a:buClr>
                <a:schemeClr val="dk1"/>
              </a:buClr>
              <a:buSzPts val="2400"/>
              <a:buNone/>
            </a:pPr>
            <a:endParaRPr>
              <a:latin typeface="Cambria"/>
              <a:ea typeface="Cambria"/>
              <a:cs typeface="Cambria"/>
              <a:sym typeface="Cambria"/>
            </a:endParaRPr>
          </a:p>
          <a:p>
            <a:pPr marL="342900" lvl="0" indent="-190500" algn="just" rtl="0">
              <a:lnSpc>
                <a:spcPct val="200000"/>
              </a:lnSpc>
              <a:spcBef>
                <a:spcPts val="0"/>
              </a:spcBef>
              <a:spcAft>
                <a:spcPts val="0"/>
              </a:spcAft>
              <a:buClr>
                <a:schemeClr val="dk1"/>
              </a:buClr>
              <a:buSzPts val="2400"/>
              <a:buNone/>
            </a:pPr>
            <a:endParaRPr>
              <a:latin typeface="Cambria"/>
              <a:ea typeface="Cambria"/>
              <a:cs typeface="Cambria"/>
              <a:sym typeface="Cambria"/>
            </a:endParaRPr>
          </a:p>
          <a:p>
            <a:pPr marL="342900" lvl="0" indent="-190500" algn="just" rtl="0">
              <a:lnSpc>
                <a:spcPct val="200000"/>
              </a:lnSpc>
              <a:spcBef>
                <a:spcPts val="0"/>
              </a:spcBef>
              <a:spcAft>
                <a:spcPts val="0"/>
              </a:spcAft>
              <a:buClr>
                <a:schemeClr val="dk1"/>
              </a:buClr>
              <a:buSzPts val="2400"/>
              <a:buNone/>
            </a:pPr>
            <a:endParaRPr>
              <a:latin typeface="Cambria"/>
              <a:ea typeface="Cambria"/>
              <a:cs typeface="Cambria"/>
              <a:sym typeface="Cambria"/>
            </a:endParaRPr>
          </a:p>
          <a:p>
            <a:pPr marL="342900" lvl="0" indent="-190500" algn="just" rtl="0">
              <a:lnSpc>
                <a:spcPct val="200000"/>
              </a:lnSpc>
              <a:spcBef>
                <a:spcPts val="0"/>
              </a:spcBef>
              <a:spcAft>
                <a:spcPts val="0"/>
              </a:spcAft>
              <a:buClr>
                <a:schemeClr val="dk1"/>
              </a:buClr>
              <a:buSzPts val="2400"/>
              <a:buNone/>
            </a:pPr>
            <a:endParaRPr>
              <a:latin typeface="Cambria"/>
              <a:ea typeface="Cambria"/>
              <a:cs typeface="Cambria"/>
              <a:sym typeface="Cambria"/>
            </a:endParaRPr>
          </a:p>
        </p:txBody>
      </p:sp>
      <p:sp>
        <p:nvSpPr>
          <p:cNvPr id="111" name="Google Shape;111;p16"/>
          <p:cNvSpPr txBox="1"/>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p>
            <a:pPr marL="342900" marR="0" lvl="0" indent="-190500" algn="just" rtl="0">
              <a:lnSpc>
                <a:spcPct val="100000"/>
              </a:lnSpc>
              <a:spcBef>
                <a:spcPts val="0"/>
              </a:spcBef>
              <a:spcAft>
                <a:spcPts val="0"/>
              </a:spcAft>
              <a:buClr>
                <a:schemeClr val="dk1"/>
              </a:buClr>
              <a:buSzPts val="2400"/>
              <a:buFont typeface="Arial"/>
              <a:buNone/>
            </a:pPr>
            <a:endParaRPr sz="2400" b="0" i="0" u="none" strike="noStrike" cap="none">
              <a:solidFill>
                <a:schemeClr val="dk1"/>
              </a:solidFill>
              <a:latin typeface="Cambria"/>
              <a:ea typeface="Cambria"/>
              <a:cs typeface="Cambria"/>
              <a:sym typeface="Cambria"/>
            </a:endParaRPr>
          </a:p>
          <a:p>
            <a:pPr marL="342900" marR="0" lvl="0" indent="-190500" algn="just" rtl="0">
              <a:lnSpc>
                <a:spcPct val="100000"/>
              </a:lnSpc>
              <a:spcBef>
                <a:spcPts val="0"/>
              </a:spcBef>
              <a:spcAft>
                <a:spcPts val="0"/>
              </a:spcAft>
              <a:buClr>
                <a:schemeClr val="dk1"/>
              </a:buClr>
              <a:buSzPts val="2400"/>
              <a:buFont typeface="Arial"/>
              <a:buNone/>
            </a:pPr>
            <a:endParaRPr sz="2400" b="0" i="0" u="none" strike="noStrike" cap="none">
              <a:solidFill>
                <a:schemeClr val="dk1"/>
              </a:solidFill>
              <a:latin typeface="Cambria"/>
              <a:ea typeface="Cambria"/>
              <a:cs typeface="Cambria"/>
              <a:sym typeface="Cambria"/>
            </a:endParaRPr>
          </a:p>
          <a:p>
            <a:pPr marL="342900" marR="0" lvl="0" indent="-190500" algn="just" rtl="0">
              <a:lnSpc>
                <a:spcPct val="200000"/>
              </a:lnSpc>
              <a:spcBef>
                <a:spcPts val="0"/>
              </a:spcBef>
              <a:spcAft>
                <a:spcPts val="0"/>
              </a:spcAft>
              <a:buClr>
                <a:schemeClr val="dk1"/>
              </a:buClr>
              <a:buSzPts val="2400"/>
              <a:buFont typeface="Arial"/>
              <a:buNone/>
            </a:pPr>
            <a:endParaRPr sz="2400" b="0" i="0" u="none" strike="noStrike" cap="none">
              <a:solidFill>
                <a:schemeClr val="dk1"/>
              </a:solidFill>
              <a:latin typeface="Cambria"/>
              <a:ea typeface="Cambria"/>
              <a:cs typeface="Cambria"/>
              <a:sym typeface="Cambria"/>
            </a:endParaRPr>
          </a:p>
          <a:p>
            <a:pPr marL="342900" marR="0" lvl="0" indent="-190500" algn="just" rtl="0">
              <a:lnSpc>
                <a:spcPct val="200000"/>
              </a:lnSpc>
              <a:spcBef>
                <a:spcPts val="0"/>
              </a:spcBef>
              <a:spcAft>
                <a:spcPts val="0"/>
              </a:spcAft>
              <a:buClr>
                <a:schemeClr val="dk1"/>
              </a:buClr>
              <a:buSzPts val="2400"/>
              <a:buFont typeface="Arial"/>
              <a:buNone/>
            </a:pPr>
            <a:endParaRPr sz="2400" b="0" i="0" u="none" strike="noStrike" cap="none">
              <a:solidFill>
                <a:schemeClr val="dk1"/>
              </a:solidFill>
              <a:latin typeface="Cambria"/>
              <a:ea typeface="Cambria"/>
              <a:cs typeface="Cambria"/>
              <a:sym typeface="Cambria"/>
            </a:endParaRPr>
          </a:p>
          <a:p>
            <a:pPr marL="342900" marR="0" lvl="0" indent="-190500" algn="just" rtl="0">
              <a:lnSpc>
                <a:spcPct val="200000"/>
              </a:lnSpc>
              <a:spcBef>
                <a:spcPts val="0"/>
              </a:spcBef>
              <a:spcAft>
                <a:spcPts val="0"/>
              </a:spcAft>
              <a:buClr>
                <a:schemeClr val="dk1"/>
              </a:buClr>
              <a:buSzPts val="2400"/>
              <a:buFont typeface="Arial"/>
              <a:buNone/>
            </a:pPr>
            <a:endParaRPr sz="2400" b="0" i="0" u="none" strike="noStrike" cap="none">
              <a:solidFill>
                <a:schemeClr val="dk1"/>
              </a:solidFill>
              <a:latin typeface="Cambria"/>
              <a:ea typeface="Cambria"/>
              <a:cs typeface="Cambria"/>
              <a:sym typeface="Cambria"/>
            </a:endParaRPr>
          </a:p>
        </p:txBody>
      </p:sp>
      <p:sp>
        <p:nvSpPr>
          <p:cNvPr id="112" name="Google Shape;112;p16"/>
          <p:cNvSpPr txBox="1"/>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p>
            <a:pPr marL="342900" marR="0" lvl="0" indent="-190500" algn="just" rtl="0">
              <a:lnSpc>
                <a:spcPct val="100000"/>
              </a:lnSpc>
              <a:spcBef>
                <a:spcPts val="0"/>
              </a:spcBef>
              <a:spcAft>
                <a:spcPts val="0"/>
              </a:spcAft>
              <a:buClr>
                <a:schemeClr val="dk1"/>
              </a:buClr>
              <a:buSzPts val="2400"/>
              <a:buFont typeface="Arial"/>
              <a:buNone/>
            </a:pPr>
            <a:r>
              <a:rPr lang="en-US" sz="2400" i="0" u="none" strike="noStrike" cap="none" dirty="0">
                <a:solidFill>
                  <a:schemeClr val="dk1"/>
                </a:solidFill>
                <a:latin typeface="Times New Roman"/>
                <a:ea typeface="Times New Roman"/>
                <a:cs typeface="Times New Roman"/>
                <a:sym typeface="Times New Roman"/>
              </a:rPr>
              <a:t>The Github link provided should have public access permission.</a:t>
            </a:r>
            <a:endParaRPr dirty="0">
              <a:latin typeface="Times New Roman"/>
              <a:ea typeface="Times New Roman"/>
              <a:cs typeface="Times New Roman"/>
              <a:sym typeface="Times New Roman"/>
            </a:endParaRPr>
          </a:p>
          <a:p>
            <a:pPr marL="342900" marR="0" lvl="0" indent="-190500" algn="just" rtl="0">
              <a:lnSpc>
                <a:spcPct val="100000"/>
              </a:lnSpc>
              <a:spcBef>
                <a:spcPts val="0"/>
              </a:spcBef>
              <a:spcAft>
                <a:spcPts val="0"/>
              </a:spcAft>
              <a:buClr>
                <a:schemeClr val="dk1"/>
              </a:buClr>
              <a:buSzPts val="2400"/>
              <a:buFont typeface="Arial"/>
              <a:buNone/>
            </a:pPr>
            <a:endParaRPr sz="2400" i="0" u="none" strike="noStrike" cap="none" dirty="0">
              <a:solidFill>
                <a:schemeClr val="dk1"/>
              </a:solidFill>
              <a:latin typeface="Times New Roman"/>
              <a:ea typeface="Times New Roman"/>
              <a:cs typeface="Times New Roman"/>
              <a:sym typeface="Times New Roman"/>
            </a:endParaRPr>
          </a:p>
          <a:p>
            <a:pPr marL="342900" marR="0" lvl="0" indent="-190500" algn="just" rtl="0">
              <a:lnSpc>
                <a:spcPct val="100000"/>
              </a:lnSpc>
              <a:spcBef>
                <a:spcPts val="0"/>
              </a:spcBef>
              <a:spcAft>
                <a:spcPts val="0"/>
              </a:spcAft>
              <a:buClr>
                <a:schemeClr val="dk1"/>
              </a:buClr>
              <a:buSzPts val="2400"/>
              <a:buFont typeface="Arial"/>
              <a:buNone/>
            </a:pPr>
            <a:r>
              <a:rPr lang="en-US" sz="2400" b="1" i="0" u="none" strike="noStrike" cap="none" dirty="0">
                <a:solidFill>
                  <a:srgbClr val="953734"/>
                </a:solidFill>
                <a:latin typeface="Times New Roman"/>
                <a:ea typeface="Times New Roman"/>
                <a:cs typeface="Times New Roman"/>
                <a:sym typeface="Times New Roman"/>
              </a:rPr>
              <a:t>Github Link</a:t>
            </a:r>
          </a:p>
          <a:p>
            <a:pPr marL="342900" marR="0" lvl="0" indent="-190500" algn="just" rtl="0">
              <a:lnSpc>
                <a:spcPct val="100000"/>
              </a:lnSpc>
              <a:spcBef>
                <a:spcPts val="0"/>
              </a:spcBef>
              <a:spcAft>
                <a:spcPts val="0"/>
              </a:spcAft>
              <a:buClr>
                <a:schemeClr val="dk1"/>
              </a:buClr>
              <a:buSzPts val="2400"/>
              <a:buFont typeface="Arial"/>
              <a:buNone/>
            </a:pPr>
            <a:endParaRPr lang="en-US" sz="2400" b="1" dirty="0">
              <a:solidFill>
                <a:srgbClr val="953734"/>
              </a:solidFill>
              <a:latin typeface="Times New Roman"/>
              <a:ea typeface="Times New Roman"/>
              <a:cs typeface="Times New Roman"/>
              <a:sym typeface="Times New Roman"/>
            </a:endParaRPr>
          </a:p>
          <a:p>
            <a:pPr marL="342900" marR="0" lvl="0" indent="-190500" algn="just" rtl="0">
              <a:lnSpc>
                <a:spcPct val="100000"/>
              </a:lnSpc>
              <a:spcBef>
                <a:spcPts val="0"/>
              </a:spcBef>
              <a:spcAft>
                <a:spcPts val="0"/>
              </a:spcAft>
              <a:buClr>
                <a:schemeClr val="dk1"/>
              </a:buClr>
              <a:buSzPts val="2400"/>
              <a:buFont typeface="Arial"/>
              <a:buNone/>
            </a:pPr>
            <a:endParaRPr dirty="0">
              <a:latin typeface="Times New Roman"/>
              <a:ea typeface="Times New Roman"/>
              <a:cs typeface="Times New Roman"/>
              <a:sym typeface="Times New Roman"/>
            </a:endParaRPr>
          </a:p>
          <a:p>
            <a:pPr marL="342900" marR="0" lvl="0" indent="-190500" algn="just" rtl="0">
              <a:lnSpc>
                <a:spcPct val="100000"/>
              </a:lnSpc>
              <a:spcBef>
                <a:spcPts val="0"/>
              </a:spcBef>
              <a:spcAft>
                <a:spcPts val="0"/>
              </a:spcAft>
              <a:buClr>
                <a:schemeClr val="dk1"/>
              </a:buClr>
              <a:buSzPts val="2400"/>
              <a:buFont typeface="Arial"/>
              <a:buNone/>
            </a:pPr>
            <a:r>
              <a:rPr lang="en-IN" sz="2000" dirty="0">
                <a:solidFill>
                  <a:schemeClr val="dk1"/>
                </a:solidFill>
                <a:latin typeface="Cambria"/>
                <a:ea typeface="Cambria"/>
                <a:cs typeface="Cambria"/>
                <a:sym typeface="Cambria"/>
                <a:hlinkClick r:id="rId3"/>
              </a:rPr>
              <a:t>https://github.com/FauzanJavid/Smart-Competency-Diagnostic-and-Profile-Score-Calculator</a:t>
            </a:r>
            <a:r>
              <a:rPr lang="en-IN" sz="2000" dirty="0">
                <a:solidFill>
                  <a:schemeClr val="dk1"/>
                </a:solidFill>
                <a:latin typeface="Cambria"/>
                <a:ea typeface="Cambria"/>
                <a:cs typeface="Cambria"/>
                <a:sym typeface="Cambria"/>
              </a:rPr>
              <a:t> </a:t>
            </a:r>
            <a:endParaRPr lang="en-IN" sz="2400" b="0" i="0" u="none" strike="noStrike" cap="none" dirty="0">
              <a:solidFill>
                <a:schemeClr val="dk1"/>
              </a:solidFill>
              <a:latin typeface="Cambria"/>
              <a:ea typeface="Cambria"/>
              <a:cs typeface="Cambria"/>
              <a:sym typeface="Cambri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indent="0" algn="l" rtl="0">
              <a:lnSpc>
                <a:spcPct val="200000"/>
              </a:lnSpc>
              <a:spcBef>
                <a:spcPts val="0"/>
              </a:spcBef>
              <a:spcAft>
                <a:spcPts val="0"/>
              </a:spcAft>
              <a:buSzPts val="2800"/>
              <a:buNone/>
            </a:pPr>
            <a:r>
              <a:rPr lang="en-US">
                <a:latin typeface="Cambria"/>
                <a:ea typeface="Cambria"/>
                <a:cs typeface="Cambria"/>
                <a:sym typeface="Cambria"/>
              </a:rPr>
              <a:t>Analysis of Problem Statement</a:t>
            </a:r>
            <a:endParaRPr/>
          </a:p>
        </p:txBody>
      </p:sp>
      <p:sp>
        <p:nvSpPr>
          <p:cNvPr id="118" name="Google Shape;118;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fontScale="62500" lnSpcReduction="20000"/>
          </a:bodyPr>
          <a:lstStyle/>
          <a:p>
            <a:pPr marL="76200" indent="0" algn="just">
              <a:buNone/>
            </a:pPr>
            <a:r>
              <a:rPr lang="en-US" sz="2600" b="1" dirty="0">
                <a:latin typeface="Times New Roman" panose="02020603050405020304" pitchFamily="18" charset="0"/>
                <a:cs typeface="Times New Roman" panose="02020603050405020304" pitchFamily="18" charset="0"/>
              </a:rPr>
              <a:t>Domain:</a:t>
            </a:r>
            <a:r>
              <a:rPr lang="en-US" sz="2600" dirty="0">
                <a:latin typeface="Times New Roman" panose="02020603050405020304" pitchFamily="18" charset="0"/>
                <a:cs typeface="Times New Roman" panose="02020603050405020304" pitchFamily="18" charset="0"/>
              </a:rPr>
              <a:t> Educational Technology &amp; AI-Powered Assessment</a:t>
            </a:r>
          </a:p>
          <a:p>
            <a:pPr marL="76200" indent="0" algn="just">
              <a:buNone/>
            </a:pPr>
            <a:r>
              <a:rPr lang="en-US" sz="2600" b="1" dirty="0">
                <a:latin typeface="Times New Roman" panose="02020603050405020304" pitchFamily="18" charset="0"/>
                <a:cs typeface="Times New Roman" panose="02020603050405020304" pitchFamily="18" charset="0"/>
              </a:rPr>
              <a:t>Languages:</a:t>
            </a:r>
            <a:r>
              <a:rPr lang="en-US" sz="2600" dirty="0">
                <a:latin typeface="Times New Roman" panose="02020603050405020304" pitchFamily="18" charset="0"/>
                <a:cs typeface="Times New Roman" panose="02020603050405020304" pitchFamily="18" charset="0"/>
              </a:rPr>
              <a:t> JavaScript, TypeScript</a:t>
            </a:r>
          </a:p>
          <a:p>
            <a:pPr marL="76200" indent="0" algn="just">
              <a:buNone/>
            </a:pPr>
            <a:r>
              <a:rPr lang="en-US" sz="2600" b="1" dirty="0">
                <a:latin typeface="Times New Roman" panose="02020603050405020304" pitchFamily="18" charset="0"/>
                <a:cs typeface="Times New Roman" panose="02020603050405020304" pitchFamily="18" charset="0"/>
              </a:rPr>
              <a:t>Frontend Libraries &amp; Frameworks:</a:t>
            </a:r>
            <a:endParaRPr lang="en-US" sz="2600" dirty="0">
              <a:latin typeface="Times New Roman" panose="02020603050405020304" pitchFamily="18" charset="0"/>
              <a:cs typeface="Times New Roman" panose="02020603050405020304" pitchFamily="18" charset="0"/>
            </a:endParaRPr>
          </a:p>
          <a:p>
            <a:pPr algn="just"/>
            <a:r>
              <a:rPr lang="en-US" sz="2600" dirty="0">
                <a:latin typeface="Times New Roman" panose="02020603050405020304" pitchFamily="18" charset="0"/>
                <a:cs typeface="Times New Roman" panose="02020603050405020304" pitchFamily="18" charset="0"/>
              </a:rPr>
              <a:t>React 18.3.1 (UI framework)</a:t>
            </a:r>
          </a:p>
          <a:p>
            <a:pPr algn="just"/>
            <a:r>
              <a:rPr lang="en-US" sz="2600" dirty="0">
                <a:latin typeface="Times New Roman" panose="02020603050405020304" pitchFamily="18" charset="0"/>
                <a:cs typeface="Times New Roman" panose="02020603050405020304" pitchFamily="18" charset="0"/>
              </a:rPr>
              <a:t>TanStack Query (state management)</a:t>
            </a:r>
          </a:p>
          <a:p>
            <a:pPr algn="just"/>
            <a:r>
              <a:rPr lang="en-US" sz="2600" dirty="0">
                <a:latin typeface="Times New Roman" panose="02020603050405020304" pitchFamily="18" charset="0"/>
                <a:cs typeface="Times New Roman" panose="02020603050405020304" pitchFamily="18" charset="0"/>
              </a:rPr>
              <a:t>Monaco Editor (code editor)</a:t>
            </a:r>
          </a:p>
          <a:p>
            <a:pPr algn="just"/>
            <a:r>
              <a:rPr lang="en-US" sz="2600" dirty="0">
                <a:latin typeface="Times New Roman" panose="02020603050405020304" pitchFamily="18" charset="0"/>
                <a:cs typeface="Times New Roman" panose="02020603050405020304" pitchFamily="18" charset="0"/>
              </a:rPr>
              <a:t>Recharts (data visualization)</a:t>
            </a:r>
          </a:p>
          <a:p>
            <a:pPr algn="just"/>
            <a:r>
              <a:rPr lang="en-US" sz="2600" dirty="0">
                <a:latin typeface="Times New Roman" panose="02020603050405020304" pitchFamily="18" charset="0"/>
                <a:cs typeface="Times New Roman" panose="02020603050405020304" pitchFamily="18" charset="0"/>
              </a:rPr>
              <a:t>Tailwind CSS, Shadcn/UI (styling)</a:t>
            </a:r>
          </a:p>
          <a:p>
            <a:pPr marL="76200" indent="0" algn="just">
              <a:buNone/>
            </a:pPr>
            <a:r>
              <a:rPr lang="en-US" sz="2600" b="1" dirty="0">
                <a:latin typeface="Times New Roman" panose="02020603050405020304" pitchFamily="18" charset="0"/>
                <a:cs typeface="Times New Roman" panose="02020603050405020304" pitchFamily="18" charset="0"/>
              </a:rPr>
              <a:t>Backend &amp; Infrastructure:</a:t>
            </a:r>
            <a:endParaRPr lang="en-US" sz="2600" dirty="0">
              <a:latin typeface="Times New Roman" panose="02020603050405020304" pitchFamily="18" charset="0"/>
              <a:cs typeface="Times New Roman" panose="02020603050405020304" pitchFamily="18" charset="0"/>
            </a:endParaRPr>
          </a:p>
          <a:p>
            <a:pPr algn="just"/>
            <a:r>
              <a:rPr lang="en-US" sz="2600" dirty="0">
                <a:latin typeface="Times New Roman" panose="02020603050405020304" pitchFamily="18" charset="0"/>
                <a:cs typeface="Times New Roman" panose="02020603050405020304" pitchFamily="18" charset="0"/>
              </a:rPr>
              <a:t>Supabase (BaaS platform)</a:t>
            </a:r>
          </a:p>
          <a:p>
            <a:pPr algn="just"/>
            <a:r>
              <a:rPr lang="en-US" sz="2600" dirty="0">
                <a:latin typeface="Times New Roman" panose="02020603050405020304" pitchFamily="18" charset="0"/>
                <a:cs typeface="Times New Roman" panose="02020603050405020304" pitchFamily="18" charset="0"/>
              </a:rPr>
              <a:t>Deno (serverless runtime)</a:t>
            </a:r>
          </a:p>
          <a:p>
            <a:pPr algn="just"/>
            <a:r>
              <a:rPr lang="en-US" sz="2600" dirty="0">
                <a:latin typeface="Times New Roman" panose="02020603050405020304" pitchFamily="18" charset="0"/>
                <a:cs typeface="Times New Roman" panose="02020603050405020304" pitchFamily="18" charset="0"/>
              </a:rPr>
              <a:t>PostgreSQL (database with RLS)</a:t>
            </a:r>
          </a:p>
          <a:p>
            <a:pPr marL="76200" indent="0" algn="just">
              <a:buNone/>
            </a:pPr>
            <a:r>
              <a:rPr lang="en-US" sz="2600" b="1" dirty="0">
                <a:latin typeface="Times New Roman" panose="02020603050405020304" pitchFamily="18" charset="0"/>
                <a:cs typeface="Times New Roman" panose="02020603050405020304" pitchFamily="18" charset="0"/>
              </a:rPr>
              <a:t>External APIs &amp; Services:</a:t>
            </a:r>
            <a:endParaRPr lang="en-US" sz="2600" dirty="0">
              <a:latin typeface="Times New Roman" panose="02020603050405020304" pitchFamily="18" charset="0"/>
              <a:cs typeface="Times New Roman" panose="02020603050405020304" pitchFamily="18" charset="0"/>
            </a:endParaRPr>
          </a:p>
          <a:p>
            <a:pPr algn="just"/>
            <a:r>
              <a:rPr lang="en-US" sz="2600" dirty="0">
                <a:latin typeface="Times New Roman" panose="02020603050405020304" pitchFamily="18" charset="0"/>
                <a:cs typeface="Times New Roman" panose="02020603050405020304" pitchFamily="18" charset="0"/>
              </a:rPr>
              <a:t>Judge0 API (sandboxed code execution)</a:t>
            </a:r>
          </a:p>
          <a:p>
            <a:pPr algn="just"/>
            <a:r>
              <a:rPr lang="en-US" sz="2600" dirty="0">
                <a:latin typeface="Times New Roman" panose="02020603050405020304" pitchFamily="18" charset="0"/>
                <a:cs typeface="Times New Roman" panose="02020603050405020304" pitchFamily="18" charset="0"/>
              </a:rPr>
              <a:t>Lovable AI Gateway (LLM integration)</a:t>
            </a:r>
          </a:p>
          <a:p>
            <a:pPr marL="76200" indent="0" algn="just">
              <a:buNone/>
            </a:pPr>
            <a:r>
              <a:rPr lang="en-US" sz="2600" b="1" dirty="0">
                <a:latin typeface="Times New Roman" panose="02020603050405020304" pitchFamily="18" charset="0"/>
                <a:cs typeface="Times New Roman" panose="02020603050405020304" pitchFamily="18" charset="0"/>
              </a:rPr>
              <a:t>Large Language Models:</a:t>
            </a:r>
            <a:r>
              <a:rPr lang="en-US" sz="2600" dirty="0">
                <a:latin typeface="Times New Roman" panose="02020603050405020304" pitchFamily="18" charset="0"/>
                <a:cs typeface="Times New Roman" panose="02020603050405020304" pitchFamily="18" charset="0"/>
              </a:rPr>
              <a:t> Gemini, GPT</a:t>
            </a:r>
          </a:p>
          <a:p>
            <a:pPr marL="76200" indent="0" algn="just">
              <a:buNone/>
            </a:pPr>
            <a:r>
              <a:rPr lang="en-US" sz="2600" b="1" dirty="0">
                <a:latin typeface="Times New Roman" panose="02020603050405020304" pitchFamily="18" charset="0"/>
                <a:cs typeface="Times New Roman" panose="02020603050405020304" pitchFamily="18" charset="0"/>
              </a:rPr>
              <a:t>Database:</a:t>
            </a:r>
            <a:r>
              <a:rPr lang="en-US" sz="2600" dirty="0">
                <a:latin typeface="Times New Roman" panose="02020603050405020304" pitchFamily="18" charset="0"/>
                <a:cs typeface="Times New Roman" panose="02020603050405020304" pitchFamily="18" charset="0"/>
              </a:rPr>
              <a:t> PostgreSQL (via Supabase)</a:t>
            </a:r>
          </a:p>
          <a:p>
            <a:pPr marL="76200" indent="0" algn="just">
              <a:buNone/>
            </a:pPr>
            <a:r>
              <a:rPr lang="en-US" sz="2600" b="1" dirty="0">
                <a:latin typeface="Times New Roman" panose="02020603050405020304" pitchFamily="18" charset="0"/>
                <a:cs typeface="Times New Roman" panose="02020603050405020304" pitchFamily="18" charset="0"/>
              </a:rPr>
              <a:t>Interface:</a:t>
            </a:r>
            <a:r>
              <a:rPr lang="en-US" sz="2600" dirty="0">
                <a:latin typeface="Times New Roman" panose="02020603050405020304" pitchFamily="18" charset="0"/>
                <a:cs typeface="Times New Roman" panose="02020603050405020304" pitchFamily="18" charset="0"/>
              </a:rPr>
              <a:t> React SPA with Vite bundler</a:t>
            </a:r>
          </a:p>
          <a:p>
            <a:pPr marL="457200" lvl="0" indent="0" algn="just" rtl="0">
              <a:lnSpc>
                <a:spcPct val="100000"/>
              </a:lnSpc>
              <a:spcBef>
                <a:spcPts val="0"/>
              </a:spcBef>
              <a:spcAft>
                <a:spcPts val="0"/>
              </a:spcAft>
              <a:buNone/>
            </a:pPr>
            <a:endParaRPr dirty="0">
              <a:latin typeface="Times New Roman"/>
              <a:ea typeface="Times New Roman"/>
              <a:cs typeface="Times New Roman"/>
              <a:sym typeface="Times New Roman"/>
            </a:endParaRPr>
          </a:p>
          <a:p>
            <a:pPr marL="342900" lvl="0" indent="-38100" algn="just" rtl="0">
              <a:lnSpc>
                <a:spcPct val="100000"/>
              </a:lnSpc>
              <a:spcBef>
                <a:spcPts val="0"/>
              </a:spcBef>
              <a:spcAft>
                <a:spcPts val="0"/>
              </a:spcAft>
              <a:buClr>
                <a:schemeClr val="dk1"/>
              </a:buClr>
              <a:buSzPct val="100000"/>
              <a:buNone/>
            </a:pPr>
            <a:endParaRPr dirty="0">
              <a:latin typeface="Times New Roman"/>
              <a:ea typeface="Times New Roman"/>
              <a:cs typeface="Times New Roman"/>
              <a:sym typeface="Times New Roman"/>
            </a:endParaRPr>
          </a:p>
          <a:p>
            <a:pPr marL="342900" lvl="0" indent="-190500" algn="just" rtl="0">
              <a:lnSpc>
                <a:spcPct val="200000"/>
              </a:lnSpc>
              <a:spcBef>
                <a:spcPts val="0"/>
              </a:spcBef>
              <a:spcAft>
                <a:spcPts val="0"/>
              </a:spcAft>
              <a:buClr>
                <a:schemeClr val="dk1"/>
              </a:buClr>
              <a:buSzPct val="100000"/>
              <a:buNone/>
            </a:pPr>
            <a:endParaRPr dirty="0">
              <a:latin typeface="Cambria"/>
              <a:ea typeface="Cambria"/>
              <a:cs typeface="Cambria"/>
              <a:sym typeface="Cambria"/>
            </a:endParaRPr>
          </a:p>
          <a:p>
            <a:pPr marL="342900" lvl="0" indent="-190500" algn="just" rtl="0">
              <a:lnSpc>
                <a:spcPct val="200000"/>
              </a:lnSpc>
              <a:spcBef>
                <a:spcPts val="0"/>
              </a:spcBef>
              <a:spcAft>
                <a:spcPts val="0"/>
              </a:spcAft>
              <a:buClr>
                <a:schemeClr val="dk1"/>
              </a:buClr>
              <a:buSzPct val="100000"/>
              <a:buNone/>
            </a:pPr>
            <a:endParaRPr dirty="0">
              <a:latin typeface="Cambria"/>
              <a:ea typeface="Cambria"/>
              <a:cs typeface="Cambria"/>
              <a:sym typeface="Cambria"/>
            </a:endParaRPr>
          </a:p>
          <a:p>
            <a:pPr marL="342900" lvl="0" indent="-190500" algn="just" rtl="0">
              <a:lnSpc>
                <a:spcPct val="200000"/>
              </a:lnSpc>
              <a:spcBef>
                <a:spcPts val="0"/>
              </a:spcBef>
              <a:spcAft>
                <a:spcPts val="0"/>
              </a:spcAft>
              <a:buClr>
                <a:schemeClr val="dk1"/>
              </a:buClr>
              <a:buSzPct val="100000"/>
              <a:buNone/>
            </a:pPr>
            <a:endParaRPr dirty="0">
              <a:latin typeface="Cambria"/>
              <a:ea typeface="Cambria"/>
              <a:cs typeface="Cambria"/>
              <a:sym typeface="Cambri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18"/>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indent="0" algn="l" rtl="0">
              <a:lnSpc>
                <a:spcPct val="200000"/>
              </a:lnSpc>
              <a:spcBef>
                <a:spcPts val="0"/>
              </a:spcBef>
              <a:spcAft>
                <a:spcPts val="0"/>
              </a:spcAft>
              <a:buSzPts val="2800"/>
              <a:buNone/>
            </a:pPr>
            <a:r>
              <a:rPr lang="en-US">
                <a:latin typeface="Cambria"/>
                <a:ea typeface="Cambria"/>
                <a:cs typeface="Cambria"/>
                <a:sym typeface="Cambria"/>
              </a:rPr>
              <a:t>Analysis of Problem Statement </a:t>
            </a:r>
            <a:r>
              <a:rPr lang="en-US" sz="2000">
                <a:latin typeface="Cambria"/>
                <a:ea typeface="Cambria"/>
                <a:cs typeface="Cambria"/>
                <a:sym typeface="Cambria"/>
              </a:rPr>
              <a:t>(contd...)</a:t>
            </a:r>
            <a:endParaRPr>
              <a:latin typeface="Cambria"/>
              <a:ea typeface="Cambria"/>
              <a:cs typeface="Cambria"/>
              <a:sym typeface="Cambria"/>
            </a:endParaRPr>
          </a:p>
        </p:txBody>
      </p:sp>
      <p:sp>
        <p:nvSpPr>
          <p:cNvPr id="124" name="Google Shape;124;p18"/>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fontScale="92500" lnSpcReduction="10000"/>
          </a:bodyPr>
          <a:lstStyle/>
          <a:p>
            <a:r>
              <a:rPr lang="en-US" b="1" dirty="0">
                <a:latin typeface="Cambria" panose="02040503050406030204" pitchFamily="18" charset="0"/>
                <a:ea typeface="Cambria" panose="02040503050406030204" pitchFamily="18" charset="0"/>
              </a:rPr>
              <a:t>Software Requirements:</a:t>
            </a:r>
          </a:p>
          <a:p>
            <a:pPr>
              <a:buFont typeface="Arial" panose="020B0604020202020204" pitchFamily="34" charset="0"/>
              <a:buChar char="•"/>
            </a:pPr>
            <a:r>
              <a:rPr lang="en-US" b="1" dirty="0">
                <a:latin typeface="Cambria" panose="02040503050406030204" pitchFamily="18" charset="0"/>
                <a:ea typeface="Cambria" panose="02040503050406030204" pitchFamily="18" charset="0"/>
              </a:rPr>
              <a:t>Frontend:</a:t>
            </a:r>
            <a:r>
              <a:rPr lang="en-US" dirty="0">
                <a:latin typeface="Cambria" panose="02040503050406030204" pitchFamily="18" charset="0"/>
                <a:ea typeface="Cambria" panose="02040503050406030204" pitchFamily="18" charset="0"/>
              </a:rPr>
              <a:t> React 18.3.1, TypeScript, Vite, Tailwind CSS, Monaco Editor, TanStack Query</a:t>
            </a:r>
          </a:p>
          <a:p>
            <a:pPr>
              <a:buFont typeface="Arial" panose="020B0604020202020204" pitchFamily="34" charset="0"/>
              <a:buChar char="•"/>
            </a:pPr>
            <a:r>
              <a:rPr lang="en-US" b="1" dirty="0">
                <a:latin typeface="Cambria" panose="02040503050406030204" pitchFamily="18" charset="0"/>
                <a:ea typeface="Cambria" panose="02040503050406030204" pitchFamily="18" charset="0"/>
              </a:rPr>
              <a:t>Backend:</a:t>
            </a:r>
            <a:r>
              <a:rPr lang="en-US" dirty="0">
                <a:latin typeface="Cambria" panose="02040503050406030204" pitchFamily="18" charset="0"/>
                <a:ea typeface="Cambria" panose="02040503050406030204" pitchFamily="18" charset="0"/>
              </a:rPr>
              <a:t> Supabase (PostgreSQL, Edge Functions, Authentication)</a:t>
            </a:r>
          </a:p>
          <a:p>
            <a:pPr>
              <a:buFont typeface="Arial" panose="020B0604020202020204" pitchFamily="34" charset="0"/>
              <a:buChar char="•"/>
            </a:pPr>
            <a:r>
              <a:rPr lang="en-US" b="1" dirty="0">
                <a:latin typeface="Cambria" panose="02040503050406030204" pitchFamily="18" charset="0"/>
                <a:ea typeface="Cambria" panose="02040503050406030204" pitchFamily="18" charset="0"/>
              </a:rPr>
              <a:t>External APIs:</a:t>
            </a:r>
            <a:r>
              <a:rPr lang="en-US" dirty="0">
                <a:latin typeface="Cambria" panose="02040503050406030204" pitchFamily="18" charset="0"/>
                <a:ea typeface="Cambria" panose="02040503050406030204" pitchFamily="18" charset="0"/>
              </a:rPr>
              <a:t> Judge0 (Code Execution), Lovable AI Gateway (LLM)</a:t>
            </a:r>
          </a:p>
          <a:p>
            <a:pPr>
              <a:buFont typeface="Arial" panose="020B0604020202020204" pitchFamily="34" charset="0"/>
              <a:buChar char="•"/>
            </a:pPr>
            <a:r>
              <a:rPr lang="en-US" b="1" dirty="0">
                <a:latin typeface="Cambria" panose="02040503050406030204" pitchFamily="18" charset="0"/>
                <a:ea typeface="Cambria" panose="02040503050406030204" pitchFamily="18" charset="0"/>
              </a:rPr>
              <a:t>Development Tools:</a:t>
            </a:r>
            <a:r>
              <a:rPr lang="en-US" dirty="0">
                <a:latin typeface="Cambria" panose="02040503050406030204" pitchFamily="18" charset="0"/>
                <a:ea typeface="Cambria" panose="02040503050406030204" pitchFamily="18" charset="0"/>
              </a:rPr>
              <a:t> Git, VS Code, Chrome </a:t>
            </a:r>
            <a:r>
              <a:rPr lang="en-US" dirty="0" err="1">
                <a:latin typeface="Cambria" panose="02040503050406030204" pitchFamily="18" charset="0"/>
                <a:ea typeface="Cambria" panose="02040503050406030204" pitchFamily="18" charset="0"/>
              </a:rPr>
              <a:t>DevTools</a:t>
            </a:r>
            <a:endParaRPr lang="en-US" dirty="0">
              <a:latin typeface="Cambria" panose="02040503050406030204" pitchFamily="18" charset="0"/>
              <a:ea typeface="Cambria" panose="02040503050406030204" pitchFamily="18" charset="0"/>
            </a:endParaRPr>
          </a:p>
          <a:p>
            <a:pPr>
              <a:buFont typeface="Arial" panose="020B0604020202020204" pitchFamily="34" charset="0"/>
              <a:buChar char="•"/>
            </a:pPr>
            <a:r>
              <a:rPr lang="en-US" b="1" dirty="0">
                <a:latin typeface="Cambria" panose="02040503050406030204" pitchFamily="18" charset="0"/>
                <a:ea typeface="Cambria" panose="02040503050406030204" pitchFamily="18" charset="0"/>
              </a:rPr>
              <a:t>Libraries:</a:t>
            </a:r>
            <a:r>
              <a:rPr lang="en-US" dirty="0">
                <a:latin typeface="Cambria" panose="02040503050406030204" pitchFamily="18" charset="0"/>
                <a:ea typeface="Cambria" panose="02040503050406030204" pitchFamily="18" charset="0"/>
              </a:rPr>
              <a:t> Shadcn/UI, Recharts, Zod, </a:t>
            </a:r>
            <a:r>
              <a:rPr lang="en-US" dirty="0" err="1">
                <a:latin typeface="Cambria" panose="02040503050406030204" pitchFamily="18" charset="0"/>
                <a:ea typeface="Cambria" panose="02040503050406030204" pitchFamily="18" charset="0"/>
              </a:rPr>
              <a:t>Lucide</a:t>
            </a:r>
            <a:r>
              <a:rPr lang="en-US" dirty="0">
                <a:latin typeface="Cambria" panose="02040503050406030204" pitchFamily="18" charset="0"/>
                <a:ea typeface="Cambria" panose="02040503050406030204" pitchFamily="18" charset="0"/>
              </a:rPr>
              <a:t> React</a:t>
            </a:r>
          </a:p>
          <a:p>
            <a:r>
              <a:rPr lang="en-US" b="1" dirty="0">
                <a:latin typeface="Cambria" panose="02040503050406030204" pitchFamily="18" charset="0"/>
                <a:ea typeface="Cambria" panose="02040503050406030204" pitchFamily="18" charset="0"/>
              </a:rPr>
              <a:t>Hardware Requirements:</a:t>
            </a:r>
          </a:p>
          <a:p>
            <a:pPr>
              <a:buFont typeface="Arial" panose="020B0604020202020204" pitchFamily="34" charset="0"/>
              <a:buChar char="•"/>
            </a:pPr>
            <a:r>
              <a:rPr lang="en-US" b="1" dirty="0">
                <a:latin typeface="Cambria" panose="02040503050406030204" pitchFamily="18" charset="0"/>
                <a:ea typeface="Cambria" panose="02040503050406030204" pitchFamily="18" charset="0"/>
              </a:rPr>
              <a:t>Development Machine:</a:t>
            </a:r>
            <a:r>
              <a:rPr lang="en-US" dirty="0">
                <a:latin typeface="Cambria" panose="02040503050406030204" pitchFamily="18" charset="0"/>
                <a:ea typeface="Cambria" panose="02040503050406030204" pitchFamily="18" charset="0"/>
              </a:rPr>
              <a:t> Intel i5/i7 or AMD Ryzen 5/7, 8GB+ RAM (16GB recommended), 256GB+ SSD, Windows 10+/macOS 10.15+/Linux</a:t>
            </a:r>
          </a:p>
          <a:p>
            <a:pPr>
              <a:buFont typeface="Arial" panose="020B0604020202020204" pitchFamily="34" charset="0"/>
              <a:buChar char="•"/>
            </a:pPr>
            <a:r>
              <a:rPr lang="en-US" b="1" dirty="0">
                <a:latin typeface="Cambria" panose="02040503050406030204" pitchFamily="18" charset="0"/>
                <a:ea typeface="Cambria" panose="02040503050406030204" pitchFamily="18" charset="0"/>
              </a:rPr>
              <a:t>Client Machine:</a:t>
            </a:r>
            <a:r>
              <a:rPr lang="en-US" dirty="0">
                <a:latin typeface="Cambria" panose="02040503050406030204" pitchFamily="18" charset="0"/>
                <a:ea typeface="Cambria" panose="02040503050406030204" pitchFamily="18" charset="0"/>
              </a:rPr>
              <a:t> Any modern device with web browser (Chrome/Firefox/Safari/Edge), 4GB+ RAM, stable internet connection</a:t>
            </a:r>
          </a:p>
          <a:p>
            <a:pPr>
              <a:buFont typeface="Arial" panose="020B0604020202020204" pitchFamily="34" charset="0"/>
              <a:buChar char="•"/>
            </a:pPr>
            <a:r>
              <a:rPr lang="en-US" b="1" dirty="0">
                <a:latin typeface="Cambria" panose="02040503050406030204" pitchFamily="18" charset="0"/>
                <a:ea typeface="Cambria" panose="02040503050406030204" pitchFamily="18" charset="0"/>
              </a:rPr>
              <a:t>Cloud Infrastructure:</a:t>
            </a:r>
            <a:r>
              <a:rPr lang="en-US" dirty="0">
                <a:latin typeface="Cambria" panose="02040503050406030204" pitchFamily="18" charset="0"/>
                <a:ea typeface="Cambria" panose="02040503050406030204" pitchFamily="18" charset="0"/>
              </a:rPr>
              <a:t> Supabase Cloud (serverless), Judge0 API, CDN (Netlify/Vercel) - No dedicated servers required</a:t>
            </a:r>
          </a:p>
          <a:p>
            <a:pPr marL="342900" lvl="0" indent="-179070" algn="just" rtl="0">
              <a:lnSpc>
                <a:spcPct val="200000"/>
              </a:lnSpc>
              <a:spcBef>
                <a:spcPts val="0"/>
              </a:spcBef>
              <a:spcAft>
                <a:spcPts val="0"/>
              </a:spcAft>
              <a:buClr>
                <a:schemeClr val="dk1"/>
              </a:buClr>
              <a:buSzPct val="100000"/>
              <a:buChar char="•"/>
            </a:pPr>
            <a:endParaRPr dirty="0">
              <a:latin typeface="Cambria"/>
              <a:ea typeface="Cambria"/>
              <a:cs typeface="Cambria"/>
              <a:sym typeface="Cambria"/>
            </a:endParaRPr>
          </a:p>
          <a:p>
            <a:pPr marL="342900" lvl="0" indent="-190500" algn="just" rtl="0">
              <a:lnSpc>
                <a:spcPct val="200000"/>
              </a:lnSpc>
              <a:spcBef>
                <a:spcPts val="0"/>
              </a:spcBef>
              <a:spcAft>
                <a:spcPts val="0"/>
              </a:spcAft>
              <a:buClr>
                <a:schemeClr val="dk1"/>
              </a:buClr>
              <a:buSzPct val="100000"/>
              <a:buNone/>
            </a:pPr>
            <a:endParaRPr dirty="0">
              <a:latin typeface="Cambria"/>
              <a:ea typeface="Cambria"/>
              <a:cs typeface="Cambria"/>
              <a:sym typeface="Cambri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19"/>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indent="0" algn="l" rtl="0">
              <a:lnSpc>
                <a:spcPct val="200000"/>
              </a:lnSpc>
              <a:spcBef>
                <a:spcPts val="0"/>
              </a:spcBef>
              <a:spcAft>
                <a:spcPts val="0"/>
              </a:spcAft>
              <a:buSzPts val="2800"/>
              <a:buNone/>
            </a:pPr>
            <a:r>
              <a:rPr lang="en-US">
                <a:latin typeface="Cambria"/>
                <a:ea typeface="Cambria"/>
                <a:cs typeface="Cambria"/>
                <a:sym typeface="Cambria"/>
              </a:rPr>
              <a:t>Analysis of Problem Statement </a:t>
            </a:r>
            <a:r>
              <a:rPr lang="en-US" sz="2000">
                <a:latin typeface="Cambria"/>
                <a:ea typeface="Cambria"/>
                <a:cs typeface="Cambria"/>
                <a:sym typeface="Cambria"/>
              </a:rPr>
              <a:t>(contd...)</a:t>
            </a:r>
            <a:endParaRPr>
              <a:latin typeface="Cambria"/>
              <a:ea typeface="Cambria"/>
              <a:cs typeface="Cambria"/>
              <a:sym typeface="Cambria"/>
            </a:endParaRPr>
          </a:p>
        </p:txBody>
      </p:sp>
      <p:sp>
        <p:nvSpPr>
          <p:cNvPr id="130" name="Google Shape;130;p19"/>
          <p:cNvSpPr txBox="1">
            <a:spLocks noGrp="1"/>
          </p:cNvSpPr>
          <p:nvPr>
            <p:ph type="body" idx="1"/>
          </p:nvPr>
        </p:nvSpPr>
        <p:spPr>
          <a:xfrm>
            <a:off x="527050" y="1235728"/>
            <a:ext cx="11545085" cy="5010959"/>
          </a:xfrm>
          <a:prstGeom prst="rect">
            <a:avLst/>
          </a:prstGeom>
          <a:noFill/>
          <a:ln>
            <a:noFill/>
          </a:ln>
        </p:spPr>
        <p:txBody>
          <a:bodyPr spcFirstLastPara="1" wrap="square" lIns="91425" tIns="45700" rIns="91425" bIns="45700" anchor="t" anchorCtr="0">
            <a:normAutofit/>
          </a:bodyPr>
          <a:lstStyle/>
          <a:p>
            <a:r>
              <a:rPr lang="en-US" sz="1900" dirty="0">
                <a:latin typeface="Cambria" panose="02040503050406030204" pitchFamily="18" charset="0"/>
                <a:ea typeface="Cambria" panose="02040503050406030204" pitchFamily="18" charset="0"/>
              </a:rPr>
              <a:t>The employment landscape is evolving rapidly, with industries demanding candidates who possess not only qualifications but also </a:t>
            </a:r>
            <a:r>
              <a:rPr lang="en-US" sz="1900" b="1" dirty="0">
                <a:latin typeface="Cambria" panose="02040503050406030204" pitchFamily="18" charset="0"/>
                <a:ea typeface="Cambria" panose="02040503050406030204" pitchFamily="18" charset="0"/>
              </a:rPr>
              <a:t>relevant, verifiable skills</a:t>
            </a:r>
            <a:r>
              <a:rPr lang="en-US" sz="1900" dirty="0">
                <a:latin typeface="Cambria" panose="02040503050406030204" pitchFamily="18" charset="0"/>
                <a:ea typeface="Cambria" panose="02040503050406030204" pitchFamily="18" charset="0"/>
              </a:rPr>
              <a:t>. Current employment platforms and job portals, however, face several critical limitations:</a:t>
            </a:r>
          </a:p>
          <a:p>
            <a:r>
              <a:rPr lang="en-US" sz="1900" b="1" dirty="0">
                <a:latin typeface="Cambria" panose="02040503050406030204" pitchFamily="18" charset="0"/>
                <a:ea typeface="Cambria" panose="02040503050406030204" pitchFamily="18" charset="0"/>
              </a:rPr>
              <a:t>Existing Challenges</a:t>
            </a:r>
          </a:p>
          <a:p>
            <a:r>
              <a:rPr lang="en-US" sz="1900" b="1" dirty="0">
                <a:latin typeface="Cambria" panose="02040503050406030204" pitchFamily="18" charset="0"/>
                <a:ea typeface="Cambria" panose="02040503050406030204" pitchFamily="18" charset="0"/>
              </a:rPr>
              <a:t>Unreliable Skill Representation</a:t>
            </a:r>
            <a:endParaRPr lang="en-US" sz="1900" dirty="0">
              <a:latin typeface="Cambria" panose="02040503050406030204" pitchFamily="18" charset="0"/>
              <a:ea typeface="Cambria" panose="02040503050406030204" pitchFamily="18" charset="0"/>
            </a:endParaRPr>
          </a:p>
          <a:p>
            <a:pPr lvl="1"/>
            <a:r>
              <a:rPr lang="en-US" sz="1900" dirty="0">
                <a:latin typeface="Cambria" panose="02040503050406030204" pitchFamily="18" charset="0"/>
                <a:ea typeface="Cambria" panose="02040503050406030204" pitchFamily="18" charset="0"/>
              </a:rPr>
              <a:t>Most platforms depend on resumes or self-declared skills.</a:t>
            </a:r>
          </a:p>
          <a:p>
            <a:pPr lvl="1"/>
            <a:r>
              <a:rPr lang="en-US" sz="1900" dirty="0">
                <a:latin typeface="Cambria" panose="02040503050406030204" pitchFamily="18" charset="0"/>
                <a:ea typeface="Cambria" panose="02040503050406030204" pitchFamily="18" charset="0"/>
              </a:rPr>
              <a:t>No standardized diagnostic mechanism exists to evaluate a candidate’s true competencies.</a:t>
            </a:r>
          </a:p>
          <a:p>
            <a:r>
              <a:rPr lang="en-US" sz="1900" b="1" dirty="0">
                <a:latin typeface="Cambria" panose="02040503050406030204" pitchFamily="18" charset="0"/>
                <a:ea typeface="Cambria" panose="02040503050406030204" pitchFamily="18" charset="0"/>
              </a:rPr>
              <a:t>Poor Candidate–Job Matching</a:t>
            </a:r>
            <a:endParaRPr lang="en-US" sz="1900" dirty="0">
              <a:latin typeface="Cambria" panose="02040503050406030204" pitchFamily="18" charset="0"/>
              <a:ea typeface="Cambria" panose="02040503050406030204" pitchFamily="18" charset="0"/>
            </a:endParaRPr>
          </a:p>
          <a:p>
            <a:pPr lvl="1"/>
            <a:r>
              <a:rPr lang="en-US" sz="1900" dirty="0">
                <a:latin typeface="Cambria" panose="02040503050406030204" pitchFamily="18" charset="0"/>
                <a:ea typeface="Cambria" panose="02040503050406030204" pitchFamily="18" charset="0"/>
              </a:rPr>
              <a:t>Matching algorithms rely on keyword-based approaches, often producing irrelevant job recommendations.</a:t>
            </a:r>
          </a:p>
          <a:p>
            <a:pPr lvl="1"/>
            <a:r>
              <a:rPr lang="en-US" sz="1900" dirty="0">
                <a:latin typeface="Cambria" panose="02040503050406030204" pitchFamily="18" charset="0"/>
                <a:ea typeface="Cambria" panose="02040503050406030204" pitchFamily="18" charset="0"/>
              </a:rPr>
              <a:t>Skill gaps are not identified, resulting in mismatched employment outcomes.</a:t>
            </a:r>
          </a:p>
          <a:p>
            <a:r>
              <a:rPr lang="en-US" sz="1900" b="1" dirty="0">
                <a:latin typeface="Cambria" panose="02040503050406030204" pitchFamily="18" charset="0"/>
                <a:ea typeface="Cambria" panose="02040503050406030204" pitchFamily="18" charset="0"/>
              </a:rPr>
              <a:t>Limited Personalization</a:t>
            </a:r>
            <a:endParaRPr lang="en-US" sz="1900" dirty="0">
              <a:latin typeface="Cambria" panose="02040503050406030204" pitchFamily="18" charset="0"/>
              <a:ea typeface="Cambria" panose="02040503050406030204" pitchFamily="18" charset="0"/>
            </a:endParaRPr>
          </a:p>
          <a:p>
            <a:pPr lvl="1"/>
            <a:r>
              <a:rPr lang="en-US" sz="1900" dirty="0">
                <a:latin typeface="Cambria" panose="02040503050406030204" pitchFamily="18" charset="0"/>
                <a:ea typeface="Cambria" panose="02040503050406030204" pitchFamily="18" charset="0"/>
              </a:rPr>
              <a:t>Generic recommendations are provided instead of </a:t>
            </a:r>
            <a:r>
              <a:rPr lang="en-US" sz="1900" b="1" dirty="0">
                <a:latin typeface="Cambria" panose="02040503050406030204" pitchFamily="18" charset="0"/>
                <a:ea typeface="Cambria" panose="02040503050406030204" pitchFamily="18" charset="0"/>
              </a:rPr>
              <a:t>adaptive, personalized learning paths</a:t>
            </a:r>
            <a:r>
              <a:rPr lang="en-US" sz="1900" dirty="0">
                <a:latin typeface="Cambria" panose="02040503050406030204" pitchFamily="18" charset="0"/>
                <a:ea typeface="Cambria" panose="02040503050406030204" pitchFamily="18" charset="0"/>
              </a:rPr>
              <a:t>.</a:t>
            </a:r>
          </a:p>
          <a:p>
            <a:pPr lvl="1"/>
            <a:r>
              <a:rPr lang="en-US" sz="1900" dirty="0">
                <a:latin typeface="Cambria" panose="02040503050406030204" pitchFamily="18" charset="0"/>
                <a:ea typeface="Cambria" panose="02040503050406030204" pitchFamily="18" charset="0"/>
              </a:rPr>
              <a:t>Employers receive limited insights into a candidate’s readiness for a role.</a:t>
            </a:r>
          </a:p>
          <a:p>
            <a:pPr marL="457200" lvl="0" indent="0" algn="just" rtl="0">
              <a:lnSpc>
                <a:spcPct val="100000"/>
              </a:lnSpc>
              <a:spcBef>
                <a:spcPts val="1200"/>
              </a:spcBef>
              <a:spcAft>
                <a:spcPts val="0"/>
              </a:spcAft>
              <a:buNone/>
            </a:pPr>
            <a:endParaRPr sz="2000" b="1" dirty="0">
              <a:latin typeface="Cambria"/>
              <a:ea typeface="Cambria"/>
              <a:cs typeface="Cambria"/>
              <a:sym typeface="Cambria"/>
            </a:endParaRPr>
          </a:p>
          <a:p>
            <a:pPr marL="76200" lvl="0" indent="0" algn="just" rtl="0">
              <a:lnSpc>
                <a:spcPct val="100000"/>
              </a:lnSpc>
              <a:spcBef>
                <a:spcPts val="480"/>
              </a:spcBef>
              <a:spcAft>
                <a:spcPts val="0"/>
              </a:spcAft>
              <a:buSzPct val="129729"/>
              <a:buNone/>
            </a:pPr>
            <a:endParaRPr sz="2000" dirty="0">
              <a:latin typeface="Cambria"/>
              <a:ea typeface="Cambria"/>
              <a:cs typeface="Cambria"/>
              <a:sym typeface="Cambri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20"/>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Analysis of Problem Statement </a:t>
            </a:r>
            <a:r>
              <a:rPr lang="en-US" sz="2000">
                <a:latin typeface="Cambria"/>
                <a:ea typeface="Cambria"/>
                <a:cs typeface="Cambria"/>
                <a:sym typeface="Cambria"/>
              </a:rPr>
              <a:t>(contd...)</a:t>
            </a:r>
            <a:endParaRPr/>
          </a:p>
        </p:txBody>
      </p:sp>
      <p:sp>
        <p:nvSpPr>
          <p:cNvPr id="137" name="Google Shape;137;p20"/>
          <p:cNvSpPr txBox="1">
            <a:spLocks noGrp="1"/>
          </p:cNvSpPr>
          <p:nvPr>
            <p:ph type="body" idx="1"/>
          </p:nvPr>
        </p:nvSpPr>
        <p:spPr>
          <a:xfrm>
            <a:off x="138793" y="1151999"/>
            <a:ext cx="12053207" cy="4858383"/>
          </a:xfrm>
          <a:prstGeom prst="rect">
            <a:avLst/>
          </a:prstGeom>
          <a:noFill/>
          <a:ln>
            <a:noFill/>
          </a:ln>
        </p:spPr>
        <p:txBody>
          <a:bodyPr spcFirstLastPara="1" wrap="square" lIns="91425" tIns="45700" rIns="91425" bIns="45700" anchor="t" anchorCtr="0">
            <a:normAutofit fontScale="32500" lnSpcReduction="20000"/>
          </a:bodyPr>
          <a:lstStyle/>
          <a:p>
            <a:pPr marL="76200" indent="0">
              <a:buNone/>
            </a:pPr>
            <a:r>
              <a:rPr lang="en-US" sz="8000" b="1" dirty="0">
                <a:latin typeface="Cambria" panose="02040503050406030204" pitchFamily="18" charset="0"/>
                <a:ea typeface="Cambria" panose="02040503050406030204" pitchFamily="18" charset="0"/>
              </a:rPr>
              <a:t>Proposed Integrated Solution</a:t>
            </a:r>
          </a:p>
          <a:p>
            <a:r>
              <a:rPr lang="en-US" sz="8000" dirty="0">
                <a:effectLst/>
                <a:latin typeface="Cambria" panose="02040503050406030204" pitchFamily="18" charset="0"/>
                <a:ea typeface="Cambria" panose="02040503050406030204" pitchFamily="18" charset="0"/>
              </a:rPr>
              <a:t>The proposed solution consolidates these advancements into a single platform, addressing the gap identified in traditional and ATS systems. It includes:</a:t>
            </a:r>
          </a:p>
          <a:p>
            <a:pPr>
              <a:buFont typeface="Arial" panose="020B0604020202020204" pitchFamily="34" charset="0"/>
              <a:buChar char="•"/>
            </a:pPr>
            <a:r>
              <a:rPr lang="en-US" sz="8000" b="1" dirty="0">
                <a:latin typeface="Cambria" panose="02040503050406030204" pitchFamily="18" charset="0"/>
                <a:ea typeface="Cambria" panose="02040503050406030204" pitchFamily="18" charset="0"/>
              </a:rPr>
              <a:t>Accurate AI-Driven Diagnostics</a:t>
            </a:r>
            <a:r>
              <a:rPr lang="en-US" sz="8000" dirty="0">
                <a:latin typeface="Cambria" panose="02040503050406030204" pitchFamily="18" charset="0"/>
                <a:ea typeface="Cambria" panose="02040503050406030204" pitchFamily="18" charset="0"/>
              </a:rPr>
              <a:t>: Real-time quizzes and adaptive learning recommendations, supported by [2]’s resume analysis enhancements, provide dynamic skill profiling.</a:t>
            </a:r>
          </a:p>
          <a:p>
            <a:pPr>
              <a:buFont typeface="Arial" panose="020B0604020202020204" pitchFamily="34" charset="0"/>
              <a:buChar char="•"/>
            </a:pPr>
            <a:r>
              <a:rPr lang="en-US" sz="8000" b="1" dirty="0">
                <a:latin typeface="Cambria" panose="02040503050406030204" pitchFamily="18" charset="0"/>
                <a:ea typeface="Cambria" panose="02040503050406030204" pitchFamily="18" charset="0"/>
              </a:rPr>
              <a:t>Fair, Bias-Free Matching</a:t>
            </a:r>
            <a:r>
              <a:rPr lang="en-US" sz="8000" dirty="0">
                <a:latin typeface="Cambria" panose="02040503050406030204" pitchFamily="18" charset="0"/>
                <a:ea typeface="Cambria" panose="02040503050406030204" pitchFamily="18" charset="0"/>
              </a:rPr>
              <a:t>: The matching engine, powered by Express.js/Node.js APIs, ensures equitable job assignments, aligning with [4]’s 20% efficiency gain.</a:t>
            </a:r>
          </a:p>
          <a:p>
            <a:pPr>
              <a:buFont typeface="Arial" panose="020B0604020202020204" pitchFamily="34" charset="0"/>
              <a:buChar char="•"/>
            </a:pPr>
            <a:r>
              <a:rPr lang="en-US" sz="8000" b="1" dirty="0">
                <a:latin typeface="Cambria" panose="02040503050406030204" pitchFamily="18" charset="0"/>
                <a:ea typeface="Cambria" panose="02040503050406030204" pitchFamily="18" charset="0"/>
              </a:rPr>
              <a:t>Engaging Career Support</a:t>
            </a:r>
            <a:r>
              <a:rPr lang="en-US" sz="8000" dirty="0">
                <a:latin typeface="Cambria" panose="02040503050406030204" pitchFamily="18" charset="0"/>
                <a:ea typeface="Cambria" panose="02040503050406030204" pitchFamily="18" charset="0"/>
              </a:rPr>
              <a:t>: Interactive visualizations and upskilling suggestions, inspired by [3]’s career path models, enhance user engagement.</a:t>
            </a:r>
          </a:p>
          <a:p>
            <a:pPr marL="457200" lvl="0" indent="0" algn="just" rtl="0">
              <a:lnSpc>
                <a:spcPct val="100000"/>
              </a:lnSpc>
              <a:spcBef>
                <a:spcPts val="1200"/>
              </a:spcBef>
              <a:spcAft>
                <a:spcPts val="0"/>
              </a:spcAft>
              <a:buNone/>
            </a:pPr>
            <a:endParaRPr sz="2000" b="1" dirty="0">
              <a:latin typeface="Cambria"/>
              <a:ea typeface="Cambria"/>
              <a:cs typeface="Cambria"/>
              <a:sym typeface="Cambria"/>
            </a:endParaRPr>
          </a:p>
          <a:p>
            <a:pPr marL="0" lvl="0" indent="0" algn="just" rtl="0">
              <a:lnSpc>
                <a:spcPct val="100000"/>
              </a:lnSpc>
              <a:spcBef>
                <a:spcPts val="480"/>
              </a:spcBef>
              <a:spcAft>
                <a:spcPts val="0"/>
              </a:spcAft>
              <a:buSzPct val="120000"/>
              <a:buNone/>
            </a:pPr>
            <a:endParaRPr sz="2000" dirty="0">
              <a:latin typeface="Cambria"/>
              <a:ea typeface="Cambria"/>
              <a:cs typeface="Cambria"/>
              <a:sym typeface="Cambri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2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Analysis of Problem Statement </a:t>
            </a:r>
            <a:r>
              <a:rPr lang="en-US" sz="2000">
                <a:latin typeface="Cambria"/>
                <a:ea typeface="Cambria"/>
                <a:cs typeface="Cambria"/>
                <a:sym typeface="Cambria"/>
              </a:rPr>
              <a:t>(contd...)</a:t>
            </a:r>
            <a:endParaRPr/>
          </a:p>
        </p:txBody>
      </p:sp>
      <p:sp>
        <p:nvSpPr>
          <p:cNvPr id="144" name="Google Shape;144;p21"/>
          <p:cNvSpPr txBox="1">
            <a:spLocks noGrp="1"/>
          </p:cNvSpPr>
          <p:nvPr>
            <p:ph type="body" idx="1"/>
          </p:nvPr>
        </p:nvSpPr>
        <p:spPr>
          <a:xfrm>
            <a:off x="133564" y="1006868"/>
            <a:ext cx="11661169" cy="6565186"/>
          </a:xfrm>
          <a:prstGeom prst="rect">
            <a:avLst/>
          </a:prstGeom>
          <a:noFill/>
          <a:ln>
            <a:noFill/>
          </a:ln>
        </p:spPr>
        <p:txBody>
          <a:bodyPr spcFirstLastPara="1" wrap="square" lIns="91425" tIns="45700" rIns="91425" bIns="45700" anchor="t" anchorCtr="0">
            <a:noAutofit/>
          </a:bodyPr>
          <a:lstStyle/>
          <a:p>
            <a:pPr marL="0" lvl="0" indent="0" algn="just" rtl="0">
              <a:lnSpc>
                <a:spcPct val="100000"/>
              </a:lnSpc>
              <a:spcBef>
                <a:spcPts val="480"/>
              </a:spcBef>
              <a:spcAft>
                <a:spcPts val="0"/>
              </a:spcAft>
              <a:buSzPts val="2400"/>
              <a:buNone/>
            </a:pPr>
            <a:r>
              <a:rPr lang="en-US" sz="2500" dirty="0">
                <a:latin typeface="Cambria"/>
                <a:ea typeface="Cambria"/>
                <a:cs typeface="Cambria"/>
                <a:sym typeface="Cambria"/>
              </a:rPr>
              <a:t>   </a:t>
            </a:r>
            <a:r>
              <a:rPr lang="en-US" sz="2500" dirty="0">
                <a:latin typeface="Times New Roman"/>
                <a:ea typeface="Times New Roman"/>
                <a:cs typeface="Times New Roman"/>
                <a:sym typeface="Times New Roman"/>
              </a:rPr>
              <a:t> </a:t>
            </a:r>
            <a:r>
              <a:rPr lang="en-US" sz="2500" b="1" dirty="0">
                <a:latin typeface="Times New Roman"/>
                <a:ea typeface="Times New Roman"/>
                <a:cs typeface="Times New Roman"/>
                <a:sym typeface="Times New Roman"/>
              </a:rPr>
              <a:t>Outcome:</a:t>
            </a:r>
            <a:endParaRPr lang="en-US" sz="2500" dirty="0">
              <a:latin typeface="Times New Roman"/>
              <a:ea typeface="Times New Roman"/>
              <a:cs typeface="Times New Roman"/>
              <a:sym typeface="Times New Roman"/>
            </a:endParaRPr>
          </a:p>
          <a:p>
            <a:pPr marL="457200" lvl="0" indent="-336550" algn="just" rtl="0">
              <a:lnSpc>
                <a:spcPct val="115000"/>
              </a:lnSpc>
              <a:spcBef>
                <a:spcPts val="1200"/>
              </a:spcBef>
              <a:spcAft>
                <a:spcPts val="0"/>
              </a:spcAft>
              <a:buSzPts val="1700"/>
              <a:buFont typeface="Arial"/>
              <a:buChar char="•"/>
            </a:pPr>
            <a:r>
              <a:rPr lang="en-US" sz="1700" b="1" dirty="0">
                <a:latin typeface="Arial"/>
                <a:ea typeface="Arial"/>
                <a:cs typeface="Arial"/>
                <a:sym typeface="Arial"/>
              </a:rPr>
              <a:t>Enhanced Technical Assessment: Students gain access to unified platform combining theoretical (MCQ) and practical (coding) evaluations with AI-driven personalized mentorship.</a:t>
            </a:r>
          </a:p>
          <a:p>
            <a:pPr marL="457200" lvl="0" indent="-336550" algn="just" rtl="0">
              <a:lnSpc>
                <a:spcPct val="115000"/>
              </a:lnSpc>
              <a:spcBef>
                <a:spcPts val="1200"/>
              </a:spcBef>
              <a:spcAft>
                <a:spcPts val="0"/>
              </a:spcAft>
              <a:buSzPts val="1700"/>
              <a:buFont typeface="Arial"/>
              <a:buChar char="•"/>
            </a:pPr>
            <a:r>
              <a:rPr lang="en-US" sz="1700" b="1" dirty="0">
                <a:latin typeface="Arial"/>
                <a:ea typeface="Arial"/>
                <a:cs typeface="Arial"/>
                <a:sym typeface="Arial"/>
              </a:rPr>
              <a:t>Improved Career Guidance: AI-powered recommendations provide tailored course suggestions and job role mapping based on individual competency profiles and skill gaps.</a:t>
            </a:r>
          </a:p>
          <a:p>
            <a:pPr marL="457200" lvl="0" indent="-336550" algn="just" rtl="0">
              <a:lnSpc>
                <a:spcPct val="115000"/>
              </a:lnSpc>
              <a:spcBef>
                <a:spcPts val="1200"/>
              </a:spcBef>
              <a:spcAft>
                <a:spcPts val="0"/>
              </a:spcAft>
              <a:buSzPts val="1700"/>
              <a:buFont typeface="Arial"/>
              <a:buChar char="•"/>
            </a:pPr>
            <a:r>
              <a:rPr lang="en-US" sz="1700" b="1" dirty="0">
                <a:latin typeface="Arial"/>
                <a:ea typeface="Arial"/>
                <a:cs typeface="Arial"/>
                <a:sym typeface="Arial"/>
              </a:rPr>
              <a:t>Scalable &amp; Secure Evaluation: Serverless architecture with Row-Level Security ensures sub-2-second dashboard load times, sandboxed code execution, and data isolation for 100+ concurrent users.</a:t>
            </a:r>
          </a:p>
          <a:p>
            <a:pPr marL="457200" lvl="0" indent="-336550" algn="just" rtl="0">
              <a:lnSpc>
                <a:spcPct val="115000"/>
              </a:lnSpc>
              <a:spcBef>
                <a:spcPts val="1200"/>
              </a:spcBef>
              <a:spcAft>
                <a:spcPts val="0"/>
              </a:spcAft>
              <a:buSzPts val="1700"/>
              <a:buFont typeface="Arial"/>
              <a:buChar char="•"/>
            </a:pPr>
            <a:r>
              <a:rPr lang="en-US" sz="1700" b="1" dirty="0">
                <a:latin typeface="Arial"/>
                <a:ea typeface="Arial"/>
                <a:cs typeface="Arial"/>
                <a:sym typeface="Arial"/>
              </a:rPr>
              <a:t>Real-Time Performance Analytics: Interactive dashboards with competency visualization enable students to track progress across multiple domains and identify improvement areas.</a:t>
            </a:r>
          </a:p>
          <a:p>
            <a:pPr marL="457200" lvl="0" indent="-336550" algn="just" rtl="0">
              <a:lnSpc>
                <a:spcPct val="115000"/>
              </a:lnSpc>
              <a:spcBef>
                <a:spcPts val="1200"/>
              </a:spcBef>
              <a:spcAft>
                <a:spcPts val="0"/>
              </a:spcAft>
              <a:buSzPts val="1700"/>
              <a:buFont typeface="Arial"/>
              <a:buChar char="•"/>
            </a:pPr>
            <a:r>
              <a:rPr lang="en-US" sz="1700" b="1" dirty="0">
                <a:latin typeface="Arial"/>
                <a:ea typeface="Arial"/>
                <a:cs typeface="Arial"/>
                <a:sym typeface="Arial"/>
              </a:rPr>
              <a:t>Democratized Learning Resources: Cost-effective, cloud-based solution eliminates geographical and economic barriers to quality technical assessment and career planning tools.</a:t>
            </a:r>
            <a:endParaRPr lang="en-US" sz="2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FACD04-CBCE-6384-89C3-8914D27EBF8A}"/>
              </a:ext>
            </a:extLst>
          </p:cNvPr>
          <p:cNvSpPr>
            <a:spLocks noGrp="1"/>
          </p:cNvSpPr>
          <p:nvPr>
            <p:ph type="title"/>
          </p:nvPr>
        </p:nvSpPr>
        <p:spPr/>
        <p:txBody>
          <a:bodyPr/>
          <a:lstStyle/>
          <a:p>
            <a:r>
              <a:rPr lang="en-IN" dirty="0"/>
              <a:t>FLOWCHART</a:t>
            </a:r>
          </a:p>
        </p:txBody>
      </p:sp>
      <p:pic>
        <p:nvPicPr>
          <p:cNvPr id="5" name="Picture 4">
            <a:extLst>
              <a:ext uri="{FF2B5EF4-FFF2-40B4-BE49-F238E27FC236}">
                <a16:creationId xmlns:a16="http://schemas.microsoft.com/office/drawing/2014/main" id="{5531867E-0FF1-43BC-87D8-1D770A39BA19}"/>
              </a:ext>
            </a:extLst>
          </p:cNvPr>
          <p:cNvPicPr>
            <a:picLocks noChangeAspect="1"/>
          </p:cNvPicPr>
          <p:nvPr/>
        </p:nvPicPr>
        <p:blipFill>
          <a:blip r:embed="rId2"/>
          <a:stretch>
            <a:fillRect/>
          </a:stretch>
        </p:blipFill>
        <p:spPr>
          <a:xfrm>
            <a:off x="2671282" y="845870"/>
            <a:ext cx="6075059" cy="5472574"/>
          </a:xfrm>
          <a:prstGeom prst="rect">
            <a:avLst/>
          </a:prstGeom>
        </p:spPr>
      </p:pic>
    </p:spTree>
    <p:extLst>
      <p:ext uri="{BB962C8B-B14F-4D97-AF65-F5344CB8AC3E}">
        <p14:creationId xmlns:p14="http://schemas.microsoft.com/office/powerpoint/2010/main" val="11188048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05A1CA-1D70-5509-8D85-51D045E0B6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11306E-D856-F1EA-86AF-8DC92BA87CBA}"/>
              </a:ext>
            </a:extLst>
          </p:cNvPr>
          <p:cNvSpPr>
            <a:spLocks noGrp="1"/>
          </p:cNvSpPr>
          <p:nvPr>
            <p:ph type="title"/>
          </p:nvPr>
        </p:nvSpPr>
        <p:spPr/>
        <p:txBody>
          <a:bodyPr/>
          <a:lstStyle/>
          <a:p>
            <a:r>
              <a:rPr lang="en-IN" dirty="0"/>
              <a:t>Results</a:t>
            </a:r>
          </a:p>
        </p:txBody>
      </p:sp>
      <p:pic>
        <p:nvPicPr>
          <p:cNvPr id="5" name="Picture 4">
            <a:extLst>
              <a:ext uri="{FF2B5EF4-FFF2-40B4-BE49-F238E27FC236}">
                <a16:creationId xmlns:a16="http://schemas.microsoft.com/office/drawing/2014/main" id="{8715949E-1E10-4978-A6D7-ABFF45A8A875}"/>
              </a:ext>
            </a:extLst>
          </p:cNvPr>
          <p:cNvPicPr>
            <a:picLocks noChangeAspect="1"/>
          </p:cNvPicPr>
          <p:nvPr/>
        </p:nvPicPr>
        <p:blipFill>
          <a:blip r:embed="rId2"/>
          <a:stretch>
            <a:fillRect/>
          </a:stretch>
        </p:blipFill>
        <p:spPr>
          <a:xfrm>
            <a:off x="812800" y="949397"/>
            <a:ext cx="10134335" cy="5317840"/>
          </a:xfrm>
          <a:prstGeom prst="rect">
            <a:avLst/>
          </a:prstGeom>
        </p:spPr>
      </p:pic>
    </p:spTree>
    <p:extLst>
      <p:ext uri="{BB962C8B-B14F-4D97-AF65-F5344CB8AC3E}">
        <p14:creationId xmlns:p14="http://schemas.microsoft.com/office/powerpoint/2010/main" val="2160523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038083-4D5F-65CE-B539-50889AC00FD8}"/>
              </a:ext>
            </a:extLst>
          </p:cNvPr>
          <p:cNvSpPr>
            <a:spLocks noGrp="1"/>
          </p:cNvSpPr>
          <p:nvPr>
            <p:ph type="title"/>
          </p:nvPr>
        </p:nvSpPr>
        <p:spPr/>
        <p:txBody>
          <a:bodyPr/>
          <a:lstStyle/>
          <a:p>
            <a:r>
              <a:rPr lang="en-IN" dirty="0"/>
              <a:t>Conclusion</a:t>
            </a:r>
          </a:p>
        </p:txBody>
      </p:sp>
      <p:sp>
        <p:nvSpPr>
          <p:cNvPr id="22" name="Rectangle 18">
            <a:extLst>
              <a:ext uri="{FF2B5EF4-FFF2-40B4-BE49-F238E27FC236}">
                <a16:creationId xmlns:a16="http://schemas.microsoft.com/office/drawing/2014/main" id="{FDD8ECB1-B30E-A9F3-9DD2-1E3F7B72E1A5}"/>
              </a:ext>
            </a:extLst>
          </p:cNvPr>
          <p:cNvSpPr>
            <a:spLocks noChangeArrowheads="1"/>
          </p:cNvSpPr>
          <p:nvPr/>
        </p:nvSpPr>
        <p:spPr bwMode="auto">
          <a:xfrm>
            <a:off x="452061" y="1213053"/>
            <a:ext cx="10839237"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mj-lt"/>
              </a:rPr>
              <a:t>The Smart Competency Diagnostic and Profile Score Calculator successfully integrates theoretical assessments, real-time code execution, and AI-driven mentorship into a unified serverless platform. Utilizing React 18.3.1, Supabase, Judge0 API, and LLM integration, the system achieved sub-2-second load times, 100% assessment accuracy, secure multi-language code execution, and &lt;1-second AI response latency. Row-Level Security ensures data isolation while the serverless architecture supports 100+ concurrent users, demonstrating both technical excellence and </a:t>
            </a:r>
            <a:r>
              <a:rPr kumimoji="0" lang="en-US" altLang="en-US" sz="2000" b="1" i="0" u="none" strike="noStrike" cap="none" normalizeH="0" baseline="0" dirty="0" err="1">
                <a:ln>
                  <a:noFill/>
                </a:ln>
                <a:solidFill>
                  <a:schemeClr val="tx1"/>
                </a:solidFill>
                <a:effectLst/>
                <a:latin typeface="+mj-lt"/>
              </a:rPr>
              <a:t>scalability.The</a:t>
            </a:r>
            <a:r>
              <a:rPr kumimoji="0" lang="en-US" altLang="en-US" sz="2000" b="1" i="0" u="none" strike="noStrike" cap="none" normalizeH="0" baseline="0" dirty="0">
                <a:ln>
                  <a:noFill/>
                </a:ln>
                <a:solidFill>
                  <a:schemeClr val="tx1"/>
                </a:solidFill>
                <a:effectLst/>
                <a:latin typeface="+mj-lt"/>
              </a:rPr>
              <a:t> platform democratizes access to quality assessment and career guidance, aligning with SDGs 4, 8, and 9. Comprehensive testing validated all requirements, confirming readiness for deployment in academic and corporate environments. This project establishes a strong foundation for next-generation EdTech solutions, proving that AI-powered platforms can deliver professional-grade functionality while maintaining security, accessibility, and user-centric design.</a:t>
            </a:r>
            <a:endParaRPr kumimoji="0" lang="en-US" altLang="en-US" sz="2000" b="0" i="0" u="none" strike="noStrike" cap="none" normalizeH="0" baseline="0" dirty="0">
              <a:ln>
                <a:noFill/>
              </a:ln>
              <a:solidFill>
                <a:schemeClr val="tx1"/>
              </a:solidFill>
              <a:effectLst/>
              <a:latin typeface="+mj-lt"/>
            </a:endParaRPr>
          </a:p>
        </p:txBody>
      </p:sp>
    </p:spTree>
    <p:extLst>
      <p:ext uri="{BB962C8B-B14F-4D97-AF65-F5344CB8AC3E}">
        <p14:creationId xmlns:p14="http://schemas.microsoft.com/office/powerpoint/2010/main" val="30724957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2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2800"/>
              <a:buNone/>
            </a:pPr>
            <a:r>
              <a:rPr lang="en-US" dirty="0">
                <a:latin typeface="Cambria"/>
                <a:ea typeface="Cambria"/>
                <a:cs typeface="Cambria"/>
                <a:sym typeface="Cambria"/>
              </a:rPr>
              <a:t>References (IEEE Paper format)</a:t>
            </a:r>
            <a:endParaRPr dirty="0">
              <a:latin typeface="Cambria"/>
              <a:ea typeface="Cambria"/>
              <a:cs typeface="Cambria"/>
              <a:sym typeface="Cambria"/>
            </a:endParaRPr>
          </a:p>
        </p:txBody>
      </p:sp>
      <p:sp>
        <p:nvSpPr>
          <p:cNvPr id="169" name="Google Shape;169;p2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Autofit/>
          </a:bodyPr>
          <a:lstStyle/>
          <a:p>
            <a:r>
              <a:rPr lang="en-US" sz="1600" dirty="0">
                <a:effectLst/>
              </a:rPr>
              <a:t>[1] I. </a:t>
            </a:r>
            <a:r>
              <a:rPr lang="en-US" sz="1600" dirty="0" err="1">
                <a:effectLst/>
              </a:rPr>
              <a:t>Khaouja</a:t>
            </a:r>
            <a:r>
              <a:rPr lang="en-US" sz="1600" dirty="0">
                <a:effectLst/>
              </a:rPr>
              <a:t>, I. </a:t>
            </a:r>
            <a:r>
              <a:rPr lang="en-US" sz="1600" dirty="0" err="1">
                <a:effectLst/>
              </a:rPr>
              <a:t>Kassou</a:t>
            </a:r>
            <a:r>
              <a:rPr lang="en-US" sz="1600" dirty="0">
                <a:effectLst/>
              </a:rPr>
              <a:t>, and M. </a:t>
            </a:r>
            <a:r>
              <a:rPr lang="en-US" sz="1600" dirty="0" err="1">
                <a:effectLst/>
              </a:rPr>
              <a:t>Ghogho</a:t>
            </a:r>
            <a:r>
              <a:rPr lang="en-US" sz="1600" dirty="0">
                <a:effectLst/>
              </a:rPr>
              <a:t>, “A survey on skill identification from online job ads,” </a:t>
            </a:r>
            <a:r>
              <a:rPr lang="en-US" sz="1600" i="1" dirty="0">
                <a:effectLst/>
              </a:rPr>
              <a:t>IEEE Access</a:t>
            </a:r>
            <a:r>
              <a:rPr lang="en-US" sz="1600" dirty="0">
                <a:effectLst/>
              </a:rPr>
              <a:t>, vol. 9, pp. 118134–118153, 2021.</a:t>
            </a:r>
          </a:p>
          <a:p>
            <a:r>
              <a:rPr lang="en-US" sz="1600" dirty="0">
                <a:effectLst/>
              </a:rPr>
              <a:t>[2] A. Rajput, A. Dubey, and R. Thakur, “Career craft AI: A personalized resume analysis and job recommendations system,” in </a:t>
            </a:r>
            <a:r>
              <a:rPr lang="en-US" sz="1600" i="1" dirty="0">
                <a:effectLst/>
              </a:rPr>
              <a:t>Proc. 1st Int. Conf. Innovative Sustainable Technol. Energy, Mechatronics, Smart Transp. (ISTEMS)</a:t>
            </a:r>
            <a:r>
              <a:rPr lang="en-US" sz="1600" dirty="0">
                <a:effectLst/>
              </a:rPr>
              <a:t>, Chennai, India, pp. 574–579, 2024.</a:t>
            </a:r>
          </a:p>
          <a:p>
            <a:r>
              <a:rPr lang="en-US" sz="1600" dirty="0">
                <a:effectLst/>
              </a:rPr>
              <a:t>[3] B. </a:t>
            </a:r>
            <a:r>
              <a:rPr lang="en-US" sz="1600" dirty="0" err="1">
                <a:effectLst/>
              </a:rPr>
              <a:t>Ramadhani</a:t>
            </a:r>
            <a:r>
              <a:rPr lang="en-US" sz="1600" dirty="0">
                <a:effectLst/>
              </a:rPr>
              <a:t>, P. H. </a:t>
            </a:r>
            <a:r>
              <a:rPr lang="en-US" sz="1600" dirty="0" err="1">
                <a:effectLst/>
              </a:rPr>
              <a:t>Khotimah</a:t>
            </a:r>
            <a:r>
              <a:rPr lang="en-US" sz="1600" dirty="0">
                <a:effectLst/>
              </a:rPr>
              <a:t>, P. P. </a:t>
            </a:r>
            <a:r>
              <a:rPr lang="en-US" sz="1600" dirty="0" err="1">
                <a:effectLst/>
              </a:rPr>
              <a:t>Arhandi</a:t>
            </a:r>
            <a:r>
              <a:rPr lang="en-US" sz="1600" dirty="0">
                <a:effectLst/>
              </a:rPr>
              <a:t>, and P. C. </a:t>
            </a:r>
            <a:r>
              <a:rPr lang="en-US" sz="1600" dirty="0" err="1">
                <a:effectLst/>
              </a:rPr>
              <a:t>Siswipraptini</a:t>
            </a:r>
            <a:r>
              <a:rPr lang="en-US" sz="1600" dirty="0">
                <a:effectLst/>
              </a:rPr>
              <a:t>, “Personalized career-path recommendation model for information technology students in Indonesia,” </a:t>
            </a:r>
            <a:r>
              <a:rPr lang="en-US" sz="1600" i="1" dirty="0">
                <a:effectLst/>
              </a:rPr>
              <a:t>IEEE Access</a:t>
            </a:r>
            <a:r>
              <a:rPr lang="en-US" sz="1600" dirty="0">
                <a:effectLst/>
              </a:rPr>
              <a:t>, vol. 12, pp. 49092–49105, 2024.</a:t>
            </a:r>
          </a:p>
          <a:p>
            <a:r>
              <a:rPr lang="en-US" sz="1600" dirty="0">
                <a:effectLst/>
              </a:rPr>
              <a:t>[4] S. </a:t>
            </a:r>
            <a:r>
              <a:rPr lang="en-US" sz="1600" dirty="0" err="1">
                <a:effectLst/>
              </a:rPr>
              <a:t>Bhojne</a:t>
            </a:r>
            <a:r>
              <a:rPr lang="en-US" sz="1600" dirty="0">
                <a:effectLst/>
              </a:rPr>
              <a:t>, P. Shah, S. Soares, P. </a:t>
            </a:r>
            <a:r>
              <a:rPr lang="en-US" sz="1600" dirty="0" err="1">
                <a:effectLst/>
              </a:rPr>
              <a:t>Mulchandani</a:t>
            </a:r>
            <a:r>
              <a:rPr lang="en-US" sz="1600" dirty="0">
                <a:effectLst/>
              </a:rPr>
              <a:t>, O. Patil, and K. P. </a:t>
            </a:r>
            <a:r>
              <a:rPr lang="en-US" sz="1600" dirty="0" err="1">
                <a:effectLst/>
              </a:rPr>
              <a:t>Tambe</a:t>
            </a:r>
            <a:r>
              <a:rPr lang="en-US" sz="1600" dirty="0">
                <a:effectLst/>
              </a:rPr>
              <a:t>, “Artificial intelligence enabled, social media leveraging job matching system for employers and applicants,” in </a:t>
            </a:r>
            <a:r>
              <a:rPr lang="en-US" sz="1600" i="1" dirty="0">
                <a:effectLst/>
              </a:rPr>
              <a:t>Proc. 5th Biennial Int. Conf. Nascent Technol. Eng. (ICNTE)</a:t>
            </a:r>
            <a:r>
              <a:rPr lang="en-US" sz="1600" dirty="0">
                <a:effectLst/>
              </a:rPr>
              <a:t>, Mumbai, India, pp. 1–6, 2023.</a:t>
            </a:r>
          </a:p>
          <a:p>
            <a:r>
              <a:rPr lang="en-US" sz="1600" dirty="0">
                <a:effectLst/>
              </a:rPr>
              <a:t>[5] M. A. Ullah, M. Ahsan, M. T. Anjum, M. M. Ahmed, F. A. Silva, and A. H. M. Aman, “AI powered job recommendation system,” in </a:t>
            </a:r>
            <a:r>
              <a:rPr lang="en-US" sz="1600" i="1" dirty="0">
                <a:effectLst/>
              </a:rPr>
              <a:t>Proc. 2024 Int. Conf. Inventive Computation Technol. (ICICT)</a:t>
            </a:r>
            <a:r>
              <a:rPr lang="en-US" sz="1600" dirty="0">
                <a:effectLst/>
              </a:rPr>
              <a:t>, Lalitpur, Nepal, pp. 1401–1406, 2024.</a:t>
            </a:r>
          </a:p>
          <a:p>
            <a:r>
              <a:rPr lang="en-US" sz="1600" dirty="0">
                <a:effectLst/>
              </a:rPr>
              <a:t>[6] K. R. Pushkar, S. Deepak, K. Arun, P. Kumar, P. Lal, and S. M. N. Islam, “A survey on artificial intelligence (AI) based job recommendation systems,” in </a:t>
            </a:r>
            <a:r>
              <a:rPr lang="en-US" sz="1600" i="1" dirty="0">
                <a:effectLst/>
              </a:rPr>
              <a:t>Proc. 2023 14th Int. Conf. Computing </a:t>
            </a:r>
            <a:r>
              <a:rPr lang="en-US" sz="1600" i="1" dirty="0" err="1">
                <a:effectLst/>
              </a:rPr>
              <a:t>Commun</a:t>
            </a:r>
            <a:r>
              <a:rPr lang="en-US" sz="1600" i="1" dirty="0">
                <a:effectLst/>
              </a:rPr>
              <a:t>. </a:t>
            </a:r>
            <a:r>
              <a:rPr lang="en-US" sz="1600" i="1" dirty="0" err="1">
                <a:effectLst/>
              </a:rPr>
              <a:t>Netw</a:t>
            </a:r>
            <a:r>
              <a:rPr lang="en-US" sz="1600" i="1" dirty="0">
                <a:effectLst/>
              </a:rPr>
              <a:t>. Technol. (ICCCNT)</a:t>
            </a:r>
            <a:r>
              <a:rPr lang="en-US" sz="1600" dirty="0">
                <a:effectLst/>
              </a:rPr>
              <a:t>, Delhi, India, pp. 1–7, 2023.</a:t>
            </a:r>
          </a:p>
          <a:p>
            <a:pPr marL="76200" indent="0" algn="just">
              <a:buNone/>
            </a:pPr>
            <a:endParaRPr lang="en-US" sz="1600" dirty="0">
              <a:effectLst/>
              <a:latin typeface="Times New Roman" panose="02020603050405020304" pitchFamily="18" charset="0"/>
              <a:ea typeface="Times New Roman" panose="02020603050405020304" pitchFamily="18" charset="0"/>
            </a:endParaRPr>
          </a:p>
          <a:p>
            <a:pPr algn="just"/>
            <a:endParaRPr lang="en-US" sz="1600" dirty="0">
              <a:latin typeface="Times New Roman" panose="02020603050405020304" pitchFamily="18" charset="0"/>
              <a:ea typeface="Times New Roman" panose="02020603050405020304" pitchFamily="18" charset="0"/>
            </a:endParaRPr>
          </a:p>
          <a:p>
            <a:pPr marL="0" indent="0" algn="just">
              <a:buNone/>
            </a:pPr>
            <a:endParaRPr lang="en-IN" sz="1800" dirty="0">
              <a:effectLst/>
              <a:latin typeface="Times New Roman" panose="02020603050405020304" pitchFamily="18" charset="0"/>
              <a:ea typeface="Times New Roman" panose="02020603050405020304" pitchFamily="18" charset="0"/>
            </a:endParaRPr>
          </a:p>
          <a:p>
            <a:pPr marL="76200" lvl="0" indent="0" algn="just" rtl="0">
              <a:lnSpc>
                <a:spcPct val="100000"/>
              </a:lnSpc>
              <a:spcBef>
                <a:spcPts val="480"/>
              </a:spcBef>
              <a:spcAft>
                <a:spcPts val="0"/>
              </a:spcAft>
              <a:buSzPts val="2400"/>
              <a:buNone/>
            </a:pPr>
            <a:endParaRPr sz="1600" dirty="0">
              <a:solidFill>
                <a:schemeClr val="dk1"/>
              </a:solidFill>
              <a:latin typeface="Cambria"/>
              <a:ea typeface="Cambria"/>
              <a:cs typeface="Cambria"/>
              <a:sym typeface="Cambria"/>
            </a:endParaRPr>
          </a:p>
          <a:p>
            <a:pPr marL="76200" lvl="0" indent="0" algn="just" rtl="0">
              <a:lnSpc>
                <a:spcPct val="100000"/>
              </a:lnSpc>
              <a:spcBef>
                <a:spcPts val="480"/>
              </a:spcBef>
              <a:spcAft>
                <a:spcPts val="0"/>
              </a:spcAft>
              <a:buSzPts val="2400"/>
              <a:buNone/>
            </a:pPr>
            <a:endParaRPr sz="1600" dirty="0">
              <a:solidFill>
                <a:schemeClr val="dk1"/>
              </a:solidFill>
              <a:latin typeface="Cambria"/>
              <a:ea typeface="Cambria"/>
              <a:cs typeface="Cambria"/>
              <a:sym typeface="Cambria"/>
            </a:endParaRPr>
          </a:p>
          <a:p>
            <a:pPr marL="76200" lvl="0" indent="0" algn="just" rtl="0">
              <a:lnSpc>
                <a:spcPct val="100000"/>
              </a:lnSpc>
              <a:spcBef>
                <a:spcPts val="480"/>
              </a:spcBef>
              <a:spcAft>
                <a:spcPts val="0"/>
              </a:spcAft>
              <a:buSzPts val="2400"/>
              <a:buNone/>
            </a:pPr>
            <a:endParaRPr sz="1600" dirty="0">
              <a:solidFill>
                <a:schemeClr val="dk1"/>
              </a:solidFill>
              <a:latin typeface="Cambria"/>
              <a:ea typeface="Cambria"/>
              <a:cs typeface="Cambria"/>
              <a:sym typeface="Cambria"/>
            </a:endParaRPr>
          </a:p>
          <a:p>
            <a:pPr marL="457200" lvl="0" indent="-228600" algn="just" rtl="0">
              <a:lnSpc>
                <a:spcPct val="100000"/>
              </a:lnSpc>
              <a:spcBef>
                <a:spcPts val="480"/>
              </a:spcBef>
              <a:spcAft>
                <a:spcPts val="0"/>
              </a:spcAft>
              <a:buSzPts val="2400"/>
              <a:buFont typeface="Arial"/>
              <a:buNone/>
            </a:pPr>
            <a:endParaRPr sz="1600" dirty="0">
              <a:solidFill>
                <a:schemeClr val="dk1"/>
              </a:solidFill>
              <a:latin typeface="Cambria"/>
              <a:ea typeface="Cambria"/>
              <a:cs typeface="Cambria"/>
              <a:sym typeface="Cambria"/>
            </a:endParaRPr>
          </a:p>
          <a:p>
            <a:pPr marL="457200" lvl="0" indent="-381000" algn="just" rtl="0">
              <a:lnSpc>
                <a:spcPct val="100000"/>
              </a:lnSpc>
              <a:spcBef>
                <a:spcPts val="480"/>
              </a:spcBef>
              <a:spcAft>
                <a:spcPts val="0"/>
              </a:spcAft>
              <a:buSzPts val="2400"/>
              <a:buNone/>
            </a:pPr>
            <a:endParaRPr sz="1600" dirty="0">
              <a:solidFill>
                <a:schemeClr val="dk1"/>
              </a:solidFill>
              <a:latin typeface="Cambria"/>
              <a:ea typeface="Cambria"/>
              <a:cs typeface="Cambria"/>
              <a:sym typeface="Cambria"/>
            </a:endParaRPr>
          </a:p>
          <a:p>
            <a:pPr marL="457200" lvl="0" indent="-381000" algn="just" rtl="0">
              <a:lnSpc>
                <a:spcPct val="100000"/>
              </a:lnSpc>
              <a:spcBef>
                <a:spcPts val="480"/>
              </a:spcBef>
              <a:spcAft>
                <a:spcPts val="0"/>
              </a:spcAft>
              <a:buSzPts val="2400"/>
              <a:buNone/>
            </a:pPr>
            <a:endParaRPr sz="1600" dirty="0">
              <a:solidFill>
                <a:srgbClr val="000000"/>
              </a:solidFill>
            </a:endParaRPr>
          </a:p>
          <a:p>
            <a:pPr marL="457200" lvl="0" indent="-381000" algn="just" rtl="0">
              <a:lnSpc>
                <a:spcPct val="100000"/>
              </a:lnSpc>
              <a:spcBef>
                <a:spcPts val="480"/>
              </a:spcBef>
              <a:spcAft>
                <a:spcPts val="0"/>
              </a:spcAft>
              <a:buSzPts val="2400"/>
              <a:buNone/>
            </a:pPr>
            <a:endParaRPr sz="1600" dirty="0">
              <a:solidFill>
                <a:srgbClr val="1F1F1F"/>
              </a:solidFill>
            </a:endParaRPr>
          </a:p>
          <a:p>
            <a:pPr marL="152400" lvl="0" indent="0" algn="just" rtl="0">
              <a:lnSpc>
                <a:spcPct val="100000"/>
              </a:lnSpc>
              <a:spcBef>
                <a:spcPts val="0"/>
              </a:spcBef>
              <a:spcAft>
                <a:spcPts val="0"/>
              </a:spcAft>
              <a:buSzPts val="2400"/>
              <a:buNone/>
            </a:pPr>
            <a:endParaRPr sz="1600" dirty="0">
              <a:solidFill>
                <a:srgbClr val="333333"/>
              </a:solidFill>
            </a:endParaRPr>
          </a:p>
          <a:p>
            <a:pPr marL="495300" lvl="0" indent="-190500" algn="just" rtl="0">
              <a:lnSpc>
                <a:spcPct val="100000"/>
              </a:lnSpc>
              <a:spcBef>
                <a:spcPts val="0"/>
              </a:spcBef>
              <a:spcAft>
                <a:spcPts val="0"/>
              </a:spcAft>
              <a:buSzPts val="2400"/>
              <a:buNone/>
            </a:pPr>
            <a:endParaRPr sz="1600" dirty="0">
              <a:latin typeface="Cambria"/>
              <a:ea typeface="Cambria"/>
              <a:cs typeface="Cambria"/>
              <a:sym typeface="Cambria"/>
            </a:endParaRPr>
          </a:p>
          <a:p>
            <a:pPr marL="152400" lvl="0" indent="0" algn="just" rtl="0">
              <a:lnSpc>
                <a:spcPct val="100000"/>
              </a:lnSpc>
              <a:spcBef>
                <a:spcPts val="0"/>
              </a:spcBef>
              <a:spcAft>
                <a:spcPts val="0"/>
              </a:spcAft>
              <a:buSzPts val="2400"/>
              <a:buNone/>
            </a:pPr>
            <a:endParaRPr sz="1600" dirty="0">
              <a:latin typeface="Cambria"/>
              <a:ea typeface="Cambria"/>
              <a:cs typeface="Cambria"/>
              <a:sym typeface="Cambria"/>
            </a:endParaRPr>
          </a:p>
          <a:p>
            <a:pPr marL="152400" lvl="0" indent="0" algn="just" rtl="0">
              <a:lnSpc>
                <a:spcPct val="100000"/>
              </a:lnSpc>
              <a:spcBef>
                <a:spcPts val="0"/>
              </a:spcBef>
              <a:spcAft>
                <a:spcPts val="0"/>
              </a:spcAft>
              <a:buSzPts val="2400"/>
              <a:buNone/>
            </a:pPr>
            <a:r>
              <a:rPr lang="en-US" sz="1600" dirty="0">
                <a:latin typeface="Cambria"/>
                <a:ea typeface="Cambria"/>
                <a:cs typeface="Cambria"/>
                <a:sym typeface="Cambria"/>
              </a:rPr>
              <a:t> </a:t>
            </a:r>
            <a:endParaRP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pic>
        <p:nvPicPr>
          <p:cNvPr id="174" name="Google Shape;174;p25"/>
          <p:cNvPicPr preferRelativeResize="0"/>
          <p:nvPr/>
        </p:nvPicPr>
        <p:blipFill rotWithShape="1">
          <a:blip r:embed="rId3">
            <a:alphaModFix/>
          </a:blip>
          <a:srcRect/>
          <a:stretch/>
        </p:blipFill>
        <p:spPr>
          <a:xfrm>
            <a:off x="4082811" y="1441315"/>
            <a:ext cx="3893305" cy="3935471"/>
          </a:xfrm>
          <a:prstGeom prst="rect">
            <a:avLst/>
          </a:prstGeom>
          <a:noFill/>
          <a:ln>
            <a:noFill/>
          </a:ln>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A8A2C149D477E4E814B4B477F0E243C" ma:contentTypeVersion="13" ma:contentTypeDescription="Create a new document." ma:contentTypeScope="" ma:versionID="89242249e9f2fc9f35c8ac40d1749aa8">
  <xsd:schema xmlns:xsd="http://www.w3.org/2001/XMLSchema" xmlns:xs="http://www.w3.org/2001/XMLSchema" xmlns:p="http://schemas.microsoft.com/office/2006/metadata/properties" xmlns:ns2="ed62f681-7444-4666-891e-c71d42de2ddf" xmlns:ns3="b8676f30-e579-463a-a8aa-821338b00374" targetNamespace="http://schemas.microsoft.com/office/2006/metadata/properties" ma:root="true" ma:fieldsID="a661edb3eb918c130b5b038713d75e6b" ns2:_="" ns3:_="">
    <xsd:import namespace="ed62f681-7444-4666-891e-c71d42de2ddf"/>
    <xsd:import namespace="b8676f30-e579-463a-a8aa-821338b0037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ServiceLocatio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62f681-7444-4666-891e-c71d42de2dd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d4626717-1439-4315-99ce-985d7ba5c11b"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Location" ma:index="19" nillable="true" ma:displayName="Location" ma:indexed="true" ma:internalName="MediaServiceLocatio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b8676f30-e579-463a-a8aa-821338b00374"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df08d022-328e-4f53-b2cf-c730c7a35dee}" ma:internalName="TaxCatchAll" ma:showField="CatchAllData" ma:web="b8676f30-e579-463a-a8aa-821338b0037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ed62f681-7444-4666-891e-c71d42de2ddf">
      <Terms xmlns="http://schemas.microsoft.com/office/infopath/2007/PartnerControls"/>
    </lcf76f155ced4ddcb4097134ff3c332f>
    <TaxCatchAll xmlns="b8676f30-e579-463a-a8aa-821338b00374"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3D18CE1-B9F9-4DEE-B697-7A9AB442837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62f681-7444-4666-891e-c71d42de2ddf"/>
    <ds:schemaRef ds:uri="b8676f30-e579-463a-a8aa-821338b0037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ED9FC95-92ED-43B3-A4A6-D5FDE4EA7070}">
  <ds:schemaRefs>
    <ds:schemaRef ds:uri="http://schemas.microsoft.com/office/2006/metadata/properties"/>
    <ds:schemaRef ds:uri="http://schemas.microsoft.com/office/infopath/2007/PartnerControls"/>
    <ds:schemaRef ds:uri="ed62f681-7444-4666-891e-c71d42de2ddf"/>
    <ds:schemaRef ds:uri="b8676f30-e579-463a-a8aa-821338b00374"/>
  </ds:schemaRefs>
</ds:datastoreItem>
</file>

<file path=customXml/itemProps3.xml><?xml version="1.0" encoding="utf-8"?>
<ds:datastoreItem xmlns:ds="http://schemas.openxmlformats.org/officeDocument/2006/customXml" ds:itemID="{176FF1A1-B3B8-45A0-A437-B421599DA66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1280</TotalTime>
  <Words>1470</Words>
  <Application>Microsoft Office PowerPoint</Application>
  <PresentationFormat>Widescreen</PresentationFormat>
  <Paragraphs>132</Paragraphs>
  <Slides>14</Slides>
  <Notes>11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Arial</vt:lpstr>
      <vt:lpstr>Bookman Old Style</vt:lpstr>
      <vt:lpstr>Calibri</vt:lpstr>
      <vt:lpstr>Cambria</vt:lpstr>
      <vt:lpstr>Noto Sans Symbols</vt:lpstr>
      <vt:lpstr>Times New Roman</vt:lpstr>
      <vt:lpstr>Verdana</vt:lpstr>
      <vt:lpstr>Bioinformatics</vt:lpstr>
      <vt:lpstr>PSCS_278 – Smart Competency Diagnostic and Profile Score Calculator</vt:lpstr>
      <vt:lpstr>Content</vt:lpstr>
      <vt:lpstr>Problem Statement Number: PSCS48 </vt:lpstr>
      <vt:lpstr>Github Link</vt:lpstr>
      <vt:lpstr>Analysis of Problem Statement</vt:lpstr>
      <vt:lpstr>Analysis of Problem Statement (contd...)</vt:lpstr>
      <vt:lpstr>Analysis of Problem Statement (contd...)</vt:lpstr>
      <vt:lpstr>Analysis of Problem Statement (contd...)</vt:lpstr>
      <vt:lpstr>Analysis of Problem Statement (contd...)</vt:lpstr>
      <vt:lpstr>FLOWCHART</vt:lpstr>
      <vt:lpstr>Results</vt:lpstr>
      <vt:lpstr>Conclusion</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PSCS_278 – Smart Competency Diagnostic and Profile Score Calculator</dc:title>
  <dc:creator>Katie</dc:creator>
  <cp:lastModifiedBy>Fauzan Javid</cp:lastModifiedBy>
  <cp:revision>19</cp:revision>
  <dcterms:modified xsi:type="dcterms:W3CDTF">2025-12-06T05:14:29Z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0x010100FA8A2C149D477E4E814B4B477F0E243C</vt:lpwstr>
  </property>
</Properties>
</file>